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3"/>
    <p:sldId id="267" r:id="rId4"/>
    <p:sldId id="265" r:id="rId5"/>
    <p:sldId id="286" r:id="rId6"/>
    <p:sldId id="312" r:id="rId7"/>
    <p:sldId id="303" r:id="rId8"/>
    <p:sldId id="298" r:id="rId9"/>
    <p:sldId id="295" r:id="rId10"/>
    <p:sldId id="283" r:id="rId11"/>
    <p:sldId id="282" r:id="rId12"/>
    <p:sldId id="281" r:id="rId13"/>
    <p:sldId id="313" r:id="rId14"/>
    <p:sldId id="287" r:id="rId15"/>
    <p:sldId id="314" r:id="rId16"/>
    <p:sldId id="315" r:id="rId17"/>
    <p:sldId id="288" r:id="rId18"/>
    <p:sldId id="304" r:id="rId19"/>
    <p:sldId id="309" r:id="rId20"/>
    <p:sldId id="310" r:id="rId21"/>
    <p:sldId id="311" r:id="rId22"/>
    <p:sldId id="305" r:id="rId23"/>
    <p:sldId id="306" r:id="rId24"/>
    <p:sldId id="28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94660"/>
  </p:normalViewPr>
  <p:slideViewPr>
    <p:cSldViewPr snapToGrid="0">
      <p:cViewPr varScale="1">
        <p:scale>
          <a:sx n="82" d="100"/>
          <a:sy n="82" d="100"/>
        </p:scale>
        <p:origin x="61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9269679-3BBC-4B6D-9626-401F94817D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CFBE5A-A6B7-4592-9AB9-4251D1B63FF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9269679-3BBC-4B6D-9626-401F94817D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CFBE5A-A6B7-4592-9AB9-4251D1B63FF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9269679-3BBC-4B6D-9626-401F94817D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CFBE5A-A6B7-4592-9AB9-4251D1B63FF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9269679-3BBC-4B6D-9626-401F94817D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CFBE5A-A6B7-4592-9AB9-4251D1B63FF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9269679-3BBC-4B6D-9626-401F94817D03}"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CFBE5A-A6B7-4592-9AB9-4251D1B63FF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9269679-3BBC-4B6D-9626-401F94817D0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CFBE5A-A6B7-4592-9AB9-4251D1B63FF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269679-3BBC-4B6D-9626-401F94817D03}"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CFBE5A-A6B7-4592-9AB9-4251D1B63FF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9269679-3BBC-4B6D-9626-401F94817D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CFBE5A-A6B7-4592-9AB9-4251D1B63FF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9269679-3BBC-4B6D-9626-401F94817D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CFBE5A-A6B7-4592-9AB9-4251D1B63FF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9269679-3BBC-4B6D-9626-401F94817D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CFBE5A-A6B7-4592-9AB9-4251D1B63FF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9269679-3BBC-4B6D-9626-401F94817D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CFBE5A-A6B7-4592-9AB9-4251D1B63FF8}"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60000"/>
            <a:ext cx="10800000" cy="720000"/>
          </a:xfrm>
        </p:spPr>
        <p:txBody>
          <a:bodyPr wrap="square" lIns="0" tIns="0" rIns="0" bIns="0">
            <a:normAutofit/>
          </a:bodyPr>
          <a:lstStyle>
            <a:lvl1pPr algn="l" fontAlgn="base">
              <a:defRPr sz="3200">
                <a:solidFill>
                  <a:schemeClr val="tx1"/>
                </a:solidFill>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p>
            <a:endParaRPr lang="en-US" dirty="0"/>
          </a:p>
        </p:txBody>
      </p:sp>
      <p:sp>
        <p:nvSpPr>
          <p:cNvPr id="5" name="灯片编号占位符 4"/>
          <p:cNvSpPr>
            <a:spLocks noGrp="1"/>
          </p:cNvSpPr>
          <p:nvPr>
            <p:ph type="sldNum" sz="quarter" idx="12"/>
            <p:custDataLst>
              <p:tags r:id="rId5"/>
            </p:custDataLst>
          </p:nvPr>
        </p:nvSpPr>
        <p:spPr/>
        <p:txBody>
          <a:bodyPr wrap="square">
            <a:normAutofit/>
          </a:body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69679-3BBC-4B6D-9626-401F94817D03}"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CFBE5A-A6B7-4592-9AB9-4251D1B63FF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10970" y="443865"/>
            <a:ext cx="10027920" cy="2985770"/>
          </a:xfrm>
        </p:spPr>
        <p:txBody>
          <a:bodyPr>
            <a:noAutofit/>
          </a:bodyPr>
          <a:lstStyle/>
          <a:p>
            <a:r>
              <a:rPr lang="en-US" sz="4400" b="1" dirty="0">
                <a:latin typeface="Times New Roman" panose="02020603050405020304" pitchFamily="18" charset="0"/>
                <a:cs typeface="Times New Roman" panose="02020603050405020304" pitchFamily="18" charset="0"/>
              </a:rPr>
              <a:t>IFET COLLEGE OF ENGINEERING</a:t>
            </a:r>
            <a:br>
              <a:rPr lang="en-US" sz="36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(An Autonomous Institution)</a:t>
            </a:r>
            <a:br>
              <a:rPr lang="en-US" sz="4000" b="1"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Department of Computer Science and Engineering </a:t>
            </a:r>
            <a:endParaRPr lang="en-US" sz="3200" dirty="0">
              <a:latin typeface="Times New Roman" panose="02020603050405020304" pitchFamily="18" charset="0"/>
              <a:cs typeface="Times New Roman" panose="02020603050405020304" pitchFamily="18" charset="0"/>
            </a:endParaRPr>
          </a:p>
          <a:p>
            <a:endParaRPr lang="en-US" altLang="en-US" sz="3300" b="1" dirty="0">
              <a:latin typeface="Times New Roman" panose="02020603050405020304" pitchFamily="18" charset="0"/>
              <a:cs typeface="Times New Roman" panose="02020603050405020304" pitchFamily="18" charset="0"/>
              <a:sym typeface="+mn-ea"/>
            </a:endParaRPr>
          </a:p>
          <a:p>
            <a:r>
              <a:rPr lang="en-US" altLang="en-US" sz="3300" b="1" dirty="0">
                <a:effectLst/>
                <a:latin typeface="Times New Roman" panose="02020603050405020304" pitchFamily="18" charset="0"/>
                <a:cs typeface="Times New Roman" panose="02020603050405020304" pitchFamily="18" charset="0"/>
                <a:sym typeface="+mn-ea"/>
              </a:rPr>
              <a:t>Explainable Multimodal Deep Learning for Huntington’s Disease Forecasting Using EfficientNet-B3 and Graph Neural Networks</a:t>
            </a:r>
            <a:endParaRPr lang="en-US" altLang="en-US" sz="3300" b="1" dirty="0">
              <a:effectLst/>
              <a:latin typeface="Times New Roman" panose="02020603050405020304" pitchFamily="18" charset="0"/>
              <a:cs typeface="Times New Roman" panose="02020603050405020304" pitchFamily="18" charset="0"/>
              <a:sym typeface="+mn-ea"/>
            </a:endParaRPr>
          </a:p>
          <a:p>
            <a:endParaRPr lang="en-US" altLang="en-US" sz="3300" b="1" dirty="0">
              <a:latin typeface="Times New Roman" panose="02020603050405020304" pitchFamily="18" charset="0"/>
              <a:cs typeface="Times New Roman" panose="02020603050405020304" pitchFamily="18" charset="0"/>
              <a:sym typeface="+mn-ea"/>
            </a:endParaRPr>
          </a:p>
          <a:p>
            <a:endParaRPr lang="en-US" sz="3300" b="1" dirty="0">
              <a:latin typeface="Times New Roman" panose="02020603050405020304" pitchFamily="18" charset="0"/>
              <a:cs typeface="Times New Roman" panose="02020603050405020304" pitchFamily="18" charset="0"/>
              <a:sym typeface="+mn-ea"/>
            </a:endParaRPr>
          </a:p>
        </p:txBody>
      </p:sp>
      <p:sp>
        <p:nvSpPr>
          <p:cNvPr id="4" name="TextBox 3"/>
          <p:cNvSpPr txBox="1"/>
          <p:nvPr/>
        </p:nvSpPr>
        <p:spPr>
          <a:xfrm>
            <a:off x="460375" y="4114165"/>
            <a:ext cx="11358245" cy="1935480"/>
          </a:xfrm>
          <a:prstGeom prst="rect">
            <a:avLst/>
          </a:prstGeom>
          <a:noFill/>
        </p:spPr>
        <p:txBody>
          <a:bodyPr wrap="square" rtlCol="0">
            <a:noAutofit/>
          </a:bodyPr>
          <a:lstStyle/>
          <a:p>
            <a:r>
              <a:rPr lang="en-IN" altLang="en-US" sz="2800" b="1" dirty="0">
                <a:solidFill>
                  <a:srgbClr val="0070C0"/>
                </a:solidFill>
                <a:latin typeface="Times New Roman" panose="02020603050405020304" pitchFamily="18" charset="0"/>
                <a:cs typeface="Times New Roman" panose="02020603050405020304" pitchFamily="18" charset="0"/>
              </a:rPr>
              <a:t>    </a:t>
            </a:r>
            <a:endParaRPr lang="en-IN" altLang="en-US" sz="2800" b="1" dirty="0">
              <a:solidFill>
                <a:srgbClr val="0070C0"/>
              </a:solidFill>
              <a:latin typeface="Times New Roman" panose="02020603050405020304" pitchFamily="18" charset="0"/>
              <a:cs typeface="Times New Roman" panose="02020603050405020304" pitchFamily="18" charset="0"/>
            </a:endParaRPr>
          </a:p>
          <a:p>
            <a:r>
              <a:rPr lang="en-IN" altLang="en-US" sz="2800" b="1" dirty="0">
                <a:solidFill>
                  <a:srgbClr val="0070C0"/>
                </a:solidFill>
                <a:latin typeface="Times New Roman" panose="02020603050405020304" pitchFamily="18" charset="0"/>
                <a:cs typeface="Times New Roman" panose="02020603050405020304" pitchFamily="18" charset="0"/>
              </a:rPr>
              <a:t> </a:t>
            </a:r>
            <a:r>
              <a:rPr lang="en-US" altLang="en-IN" sz="2800" b="1" dirty="0">
                <a:solidFill>
                  <a:srgbClr val="0070C0"/>
                </a:solidFill>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PRESENTED BY</a:t>
            </a:r>
            <a:r>
              <a:rPr lang="en-US" sz="2400" b="1" dirty="0">
                <a:latin typeface="Times New Roman" panose="02020603050405020304" pitchFamily="18" charset="0"/>
                <a:cs typeface="Times New Roman" panose="02020603050405020304" pitchFamily="18" charset="0"/>
              </a:rPr>
              <a:t>, </a:t>
            </a:r>
            <a:r>
              <a:rPr lang="en-US" sz="2400" dirty="0"/>
              <a:t>                                                            </a:t>
            </a:r>
            <a:r>
              <a:rPr lang="en-US" sz="2400" b="1" dirty="0">
                <a:latin typeface="Times New Roman" panose="02020603050405020304" pitchFamily="18" charset="0"/>
                <a:cs typeface="Times New Roman" panose="02020603050405020304" pitchFamily="18" charset="0"/>
              </a:rPr>
              <a:t>GUIDENCE BY,</a:t>
            </a:r>
            <a:r>
              <a:rPr lang="en-US" sz="2400" dirty="0"/>
              <a:t>                            </a:t>
            </a:r>
            <a:r>
              <a:rPr lang="en-IN" altLang="en-US" sz="2400" dirty="0"/>
              <a:t>     </a:t>
            </a:r>
            <a:r>
              <a:rPr lang="en-IN" alt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S.PADMAPRIYA (421122102104)                                </a:t>
            </a:r>
            <a:r>
              <a:rPr lang="en-US" sz="2400" dirty="0">
                <a:latin typeface="Times New Roman" panose="02020603050405020304" pitchFamily="18" charset="0"/>
                <a:cs typeface="Times New Roman" panose="02020603050405020304" pitchFamily="18" charset="0"/>
                <a:sym typeface="+mn-ea"/>
              </a:rPr>
              <a:t>MRS</a:t>
            </a:r>
            <a:r>
              <a:rPr lang="en-US" altLang="en-US" sz="2400">
                <a:sym typeface="+mn-ea"/>
              </a:rPr>
              <a:t>. </a:t>
            </a:r>
            <a:r>
              <a:rPr lang="en-US" altLang="en-US" sz="2400">
                <a:latin typeface="Times New Roman" panose="02020603050405020304" pitchFamily="18" charset="0"/>
                <a:cs typeface="Times New Roman" panose="02020603050405020304" pitchFamily="18" charset="0"/>
                <a:sym typeface="+mn-ea"/>
              </a:rPr>
              <a:t>INBAVALLI.A</a:t>
            </a:r>
            <a:r>
              <a:rPr lang="en-US" sz="2400" dirty="0">
                <a:latin typeface="Times New Roman" panose="02020603050405020304" pitchFamily="18" charset="0"/>
                <a:cs typeface="Times New Roman" panose="02020603050405020304" pitchFamily="18" charset="0"/>
                <a:sym typeface="+mn-ea"/>
              </a:rPr>
              <a:t>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ASSISSTANT </a:t>
            </a:r>
            <a:r>
              <a:rPr lang="en-US" sz="2800" dirty="0">
                <a:latin typeface="Times New Roman" panose="02020603050405020304" pitchFamily="18" charset="0"/>
                <a:cs typeface="Times New Roman" panose="02020603050405020304" pitchFamily="18" charset="0"/>
                <a:sym typeface="+mn-ea"/>
              </a:rPr>
              <a:t>PROFESSOR</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CSE DEPT</a:t>
            </a:r>
            <a:endParaRPr lang="en-US" sz="24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IN" alt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IN" alt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p:txBody>
      </p:sp>
      <p:sp>
        <p:nvSpPr>
          <p:cNvPr id="5" name="AutoShape 2" descr="IFET | Villupu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6" name="Picture 5"/>
          <p:cNvPicPr>
            <a:picLocks noChangeAspect="1"/>
          </p:cNvPicPr>
          <p:nvPr/>
        </p:nvPicPr>
        <p:blipFill>
          <a:blip r:embed="rId1"/>
          <a:stretch>
            <a:fillRect/>
          </a:stretch>
        </p:blipFill>
        <p:spPr>
          <a:xfrm>
            <a:off x="374314" y="793376"/>
            <a:ext cx="1359460" cy="13581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1805" y="336816"/>
            <a:ext cx="10188390" cy="866833"/>
          </a:xfrm>
        </p:spPr>
        <p:txBody>
          <a:bodyPr>
            <a:normAutofit/>
          </a:bodyPr>
          <a:lstStyle/>
          <a:p>
            <a:pPr algn="ctr"/>
            <a:r>
              <a:rPr lang="en-IN" altLang="en-US" b="1" dirty="0">
                <a:latin typeface="Times New Roman" panose="02020603050405020304" pitchFamily="18" charset="0"/>
                <a:cs typeface="Times New Roman" panose="02020603050405020304" pitchFamily="18" charset="0"/>
              </a:rPr>
              <a:t>ABSTRACT</a:t>
            </a:r>
            <a:endParaRPr lang="en-IN" alt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8500" y="1457960"/>
            <a:ext cx="10612755" cy="4284980"/>
          </a:xfrm>
        </p:spPr>
        <p:txBody>
          <a:bodyPr>
            <a:noAutofit/>
          </a:bodyPr>
          <a:lstStyle/>
          <a:p>
            <a:pPr marL="0" indent="0" algn="just">
              <a:lnSpc>
                <a:spcPct val="100000"/>
              </a:lnSpc>
              <a:buNone/>
            </a:pPr>
            <a:r>
              <a:rPr lang="en-US" altLang="en-US" dirty="0">
                <a:latin typeface="Times New Roman" panose="02020603050405020304" pitchFamily="18" charset="0"/>
                <a:cs typeface="Times New Roman" panose="02020603050405020304" pitchFamily="18" charset="0"/>
              </a:rPr>
              <a:t>Huntington’s disease is a genetic neurodegenerative disorder affecting movement, cognition, and behavior. Early prediction is crucial but traditional diagnosis relies mainly on symptoms. This work proposes an explainable multimodal deep learning model that combines genetic data and brain MRI images. Graph Neural Networks analyze DNA features, while EfficientNet extracts MRI patterns. A transformer-based fusion method integrates both modalities, and explainable AI tools improve transparency, accuracy, and clinical decision support for early disease risk prediction.</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9425"/>
            <a:ext cx="10515600" cy="842645"/>
          </a:xfrm>
        </p:spPr>
        <p:txBody>
          <a:bodyPr/>
          <a:lstStyle/>
          <a:p>
            <a:pPr algn="ctr"/>
            <a:r>
              <a:rPr lang="en-US" altLang="en-US" b="1" dirty="0">
                <a:latin typeface="Times New Roman" panose="02020603050405020304" pitchFamily="18" charset="0"/>
                <a:cs typeface="Times New Roman" panose="02020603050405020304" pitchFamily="18" charset="0"/>
              </a:rPr>
              <a:t>INTRODUCTION</a:t>
            </a:r>
            <a:endParaRPr lang="en-US" alt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42315" y="1943735"/>
            <a:ext cx="10835005" cy="4427855"/>
          </a:xfrm>
        </p:spPr>
        <p:txBody>
          <a:bodyPr>
            <a:noAutofit/>
          </a:bodyPr>
          <a:lstStyle/>
          <a:p>
            <a:pPr marL="0" indent="0" algn="just">
              <a:buNone/>
            </a:pPr>
            <a:r>
              <a:rPr lang="en-US" altLang="en-US" sz="3300" dirty="0">
                <a:latin typeface="Times New Roman" panose="02020603050405020304" pitchFamily="18" charset="0"/>
                <a:cs typeface="Times New Roman" panose="02020603050405020304" pitchFamily="18" charset="0"/>
              </a:rPr>
              <a:t>Huntington’s Disease (HD) is an inherited brain disorder caused by the abnormal expansion of CAG repeats in the HTT gene. Symptoms usually appear between 30 and 50 years of age and affect both physical movement and mental health. Patients may face involuntary jerks, speech and swallowing difficulties, and loss of coordination. Over time, memory decline and psychiatric symptoms such as mood swings and irritability worsen the condition.</a:t>
            </a:r>
            <a:endParaRPr lang="en-US" altLang="en-US" sz="3300" dirty="0">
              <a:latin typeface="Times New Roman" panose="02020603050405020304" pitchFamily="18" charset="0"/>
              <a:cs typeface="Times New Roman" panose="02020603050405020304" pitchFamily="18" charset="0"/>
            </a:endParaRPr>
          </a:p>
          <a:p>
            <a:pPr algn="just"/>
            <a:endParaRPr lang="en-US" altLang="en-US" sz="3300" dirty="0">
              <a:latin typeface="Times New Roman" panose="02020603050405020304" pitchFamily="18" charset="0"/>
              <a:cs typeface="Times New Roman" panose="02020603050405020304" pitchFamily="18" charset="0"/>
            </a:endParaRPr>
          </a:p>
          <a:p>
            <a:pPr algn="just"/>
            <a:endParaRPr lang="en-US" altLang="en-US" sz="3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t>
            </a:r>
            <a:endParaRPr lang="en-US"/>
          </a:p>
        </p:txBody>
      </p:sp>
      <p:sp>
        <p:nvSpPr>
          <p:cNvPr id="3" name="Content Placeholder 2"/>
          <p:cNvSpPr>
            <a:spLocks noGrp="1"/>
          </p:cNvSpPr>
          <p:nvPr>
            <p:ph idx="1"/>
          </p:nvPr>
        </p:nvSpPr>
        <p:spPr>
          <a:xfrm>
            <a:off x="511175" y="765175"/>
            <a:ext cx="10843260" cy="5365115"/>
          </a:xfrm>
        </p:spPr>
        <p:txBody>
          <a:bodyPr/>
          <a:p>
            <a:pPr marL="0" indent="0">
              <a:buNone/>
            </a:pPr>
            <a:endParaRPr lang="en-US" altLang="en-US" sz="3200">
              <a:latin typeface="Times New Roman" panose="02020603050405020304" pitchFamily="18" charset="0"/>
              <a:cs typeface="Times New Roman" panose="02020603050405020304" pitchFamily="18" charset="0"/>
            </a:endParaRPr>
          </a:p>
          <a:p>
            <a:pPr marL="0" indent="0" algn="just">
              <a:buNone/>
            </a:pPr>
            <a:r>
              <a:rPr lang="en-US" altLang="en-US" sz="3200">
                <a:latin typeface="Times New Roman" panose="02020603050405020304" pitchFamily="18" charset="0"/>
                <a:cs typeface="Times New Roman" panose="02020603050405020304" pitchFamily="18" charset="0"/>
              </a:rPr>
              <a:t>This project addresses the need for an efficient and interpretable AI-based malnutrition detection system. Existing models often focus on single data sources and lack transparency, reducing trust in clinical use. The proposed approach integrates deep learning and explainable techniques to improve prediction accuracy while remaining lightweight and practical. The problem addressed is the absence of reliable, scalable, and explainable tools for early malnutrition detection in real-world healthcare settings globally today.</a:t>
            </a:r>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a:latin typeface="Times New Roman" panose="02020603050405020304" pitchFamily="18" charset="0"/>
                <a:cs typeface="Times New Roman" panose="02020603050405020304" pitchFamily="18" charset="0"/>
                <a:sym typeface="+mn-ea"/>
              </a:rPr>
              <a:t>PROBLEM STATEMENT</a:t>
            </a:r>
            <a:endParaRPr lang="en-US" b="1"/>
          </a:p>
        </p:txBody>
      </p:sp>
      <p:sp>
        <p:nvSpPr>
          <p:cNvPr id="3" name="Content Placeholder 2"/>
          <p:cNvSpPr>
            <a:spLocks noGrp="1"/>
          </p:cNvSpPr>
          <p:nvPr>
            <p:ph idx="1"/>
          </p:nvPr>
        </p:nvSpPr>
        <p:spPr/>
        <p:txBody>
          <a:bodyPr/>
          <a:p>
            <a:pPr marL="0" indent="0" algn="just">
              <a:buNone/>
            </a:pPr>
            <a:r>
              <a:rPr lang="en-US" altLang="en-US" sz="3600">
                <a:latin typeface="Times New Roman" panose="02020603050405020304" pitchFamily="18" charset="0"/>
                <a:cs typeface="Times New Roman" panose="02020603050405020304" pitchFamily="18" charset="0"/>
              </a:rPr>
              <a:t>Huntington’s disease is a genetic neurodegenerative disorder often diagnosed late due to symptom-based methods. Existing approaches fail to integrate genetic and imaging data effectively and lack interpretability. There is a need for an explainable multimodal deep learning system that combines DNA and MRI data to enable early, accurate prediction and support reliable clinical decision-making.</a:t>
            </a:r>
            <a:endParaRPr lang="en-US" altLang="en-US" sz="36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59715"/>
            <a:ext cx="10515600" cy="920115"/>
          </a:xfrm>
        </p:spPr>
        <p:txBody>
          <a:bodyPr/>
          <a:p>
            <a:pPr algn="ctr"/>
            <a:r>
              <a:rPr lang="en-US" altLang="en-US" b="1" dirty="0">
                <a:latin typeface="Times New Roman" panose="02020603050405020304" pitchFamily="18" charset="0"/>
                <a:cs typeface="Times New Roman" panose="02020603050405020304" pitchFamily="18" charset="0"/>
                <a:sym typeface="+mn-ea"/>
              </a:rPr>
              <a:t>OBJECTIVE </a:t>
            </a:r>
            <a:endParaRPr lang="en-US"/>
          </a:p>
        </p:txBody>
      </p:sp>
      <p:sp>
        <p:nvSpPr>
          <p:cNvPr id="3" name="Content Placeholder 2"/>
          <p:cNvSpPr>
            <a:spLocks noGrp="1"/>
          </p:cNvSpPr>
          <p:nvPr>
            <p:ph idx="1"/>
          </p:nvPr>
        </p:nvSpPr>
        <p:spPr>
          <a:xfrm>
            <a:off x="636270" y="1430020"/>
            <a:ext cx="11045190" cy="4958715"/>
          </a:xfrm>
        </p:spPr>
        <p:txBody>
          <a:bodyPr>
            <a:normAutofit lnSpcReduction="20000"/>
          </a:bodyPr>
          <a:p>
            <a:r>
              <a:rPr lang="en-US" altLang="en-US" sz="3200">
                <a:latin typeface="Times New Roman" panose="02020603050405020304" pitchFamily="18" charset="0"/>
                <a:cs typeface="Times New Roman" panose="02020603050405020304" pitchFamily="18" charset="0"/>
              </a:rPr>
              <a:t>To develop an AI-based system for early detection of malnutrition using health data and image-based features with improved accuracy and reliability.</a:t>
            </a:r>
            <a:endParaRPr lang="en-US" altLang="en-US" sz="3200">
              <a:latin typeface="Times New Roman" panose="02020603050405020304" pitchFamily="18" charset="0"/>
              <a:cs typeface="Times New Roman" panose="02020603050405020304" pitchFamily="18" charset="0"/>
            </a:endParaRPr>
          </a:p>
          <a:p>
            <a:endParaRPr lang="en-US" altLang="en-US" sz="3200">
              <a:latin typeface="Times New Roman" panose="02020603050405020304" pitchFamily="18" charset="0"/>
              <a:cs typeface="Times New Roman" panose="02020603050405020304" pitchFamily="18" charset="0"/>
            </a:endParaRPr>
          </a:p>
          <a:p>
            <a:r>
              <a:rPr lang="en-US" altLang="en-US" sz="3200">
                <a:latin typeface="Times New Roman" panose="02020603050405020304" pitchFamily="18" charset="0"/>
                <a:cs typeface="Times New Roman" panose="02020603050405020304" pitchFamily="18" charset="0"/>
              </a:rPr>
              <a:t>To design a explainable deep learning model suitable for real-time screening in resource-constrained healthcare settings.</a:t>
            </a:r>
            <a:endParaRPr lang="en-US" altLang="en-US" sz="3200">
              <a:latin typeface="Times New Roman" panose="02020603050405020304" pitchFamily="18" charset="0"/>
              <a:cs typeface="Times New Roman" panose="02020603050405020304" pitchFamily="18" charset="0"/>
            </a:endParaRPr>
          </a:p>
          <a:p>
            <a:endParaRPr lang="en-US" altLang="en-US" sz="3200">
              <a:latin typeface="Times New Roman" panose="02020603050405020304" pitchFamily="18" charset="0"/>
              <a:cs typeface="Times New Roman" panose="02020603050405020304" pitchFamily="18" charset="0"/>
            </a:endParaRPr>
          </a:p>
          <a:p>
            <a:r>
              <a:rPr lang="en-US" altLang="en-US" sz="3200">
                <a:latin typeface="Times New Roman" panose="02020603050405020304" pitchFamily="18" charset="0"/>
                <a:cs typeface="Times New Roman" panose="02020603050405020304" pitchFamily="18" charset="0"/>
              </a:rPr>
              <a:t>The project focuses only on malnutrition prediction and risk classification in children, covering data analysis, model development, and interpretation, and excluding treatment planning or clinical diagnosis.</a:t>
            </a:r>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72770" y="111760"/>
            <a:ext cx="10781030" cy="1071245"/>
          </a:xfrm>
        </p:spPr>
        <p:txBody>
          <a:bodyPr/>
          <a:p>
            <a:pPr algn="ctr"/>
            <a:r>
              <a:rPr lang="en-US" altLang="en-US" b="1" dirty="0">
                <a:latin typeface="Times New Roman" panose="02020603050405020304" pitchFamily="18" charset="0"/>
                <a:cs typeface="Times New Roman" panose="02020603050405020304" pitchFamily="18" charset="0"/>
                <a:sym typeface="+mn-ea"/>
              </a:rPr>
              <a:t>LITERATURE SURVEY</a:t>
            </a:r>
            <a:endParaRPr lang="en-US" altLang="en-US"/>
          </a:p>
        </p:txBody>
      </p:sp>
      <p:graphicFrame>
        <p:nvGraphicFramePr>
          <p:cNvPr id="8" name="Content Placeholder 7"/>
          <p:cNvGraphicFramePr/>
          <p:nvPr>
            <p:ph idx="1"/>
            <p:custDataLst>
              <p:tags r:id="rId1"/>
            </p:custDataLst>
          </p:nvPr>
        </p:nvGraphicFramePr>
        <p:xfrm>
          <a:off x="252095" y="1457960"/>
          <a:ext cx="11616690" cy="5749290"/>
        </p:xfrm>
        <a:graphic>
          <a:graphicData uri="http://schemas.openxmlformats.org/drawingml/2006/table">
            <a:tbl>
              <a:tblPr firstRow="1" bandRow="1">
                <a:tableStyleId>{5C22544A-7EE6-4342-B048-85BDC9FD1C3A}</a:tableStyleId>
              </a:tblPr>
              <a:tblGrid>
                <a:gridCol w="3090545"/>
                <a:gridCol w="3919855"/>
                <a:gridCol w="937895"/>
                <a:gridCol w="3668395"/>
              </a:tblGrid>
              <a:tr h="795655">
                <a:tc>
                  <a:txBody>
                    <a:bodyPr/>
                    <a:p>
                      <a:pPr algn="ctr">
                        <a:lnSpc>
                          <a:spcPct val="120000"/>
                        </a:lnSpc>
                        <a:spcBef>
                          <a:spcPts val="0"/>
                        </a:spcBef>
                        <a:spcAft>
                          <a:spcPts val="0"/>
                        </a:spcAft>
                      </a:pPr>
                      <a:r>
                        <a:rPr lang="en-US" sz="1600" b="1" spc="120">
                          <a:solidFill>
                            <a:schemeClr val="tx2"/>
                          </a:solidFill>
                          <a:latin typeface="Times New Roman" panose="02020603050405020304" pitchFamily="18" charset="0"/>
                          <a:ea typeface="Microsoft YaHei" panose="020B0503020204020204" charset="-122"/>
                          <a:cs typeface="Times New Roman" panose="02020603050405020304" pitchFamily="18" charset="0"/>
                        </a:rPr>
                        <a:t>TITLE</a:t>
                      </a:r>
                      <a:endParaRPr lang="en-US" sz="1600" b="1" spc="120">
                        <a:solidFill>
                          <a:schemeClr val="tx2"/>
                        </a:solidFill>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nchorCtr="0"/>
                </a:tc>
                <a:tc>
                  <a:txBody>
                    <a:bodyPr/>
                    <a:p>
                      <a:pPr algn="ctr">
                        <a:lnSpc>
                          <a:spcPct val="120000"/>
                        </a:lnSpc>
                        <a:spcBef>
                          <a:spcPts val="0"/>
                        </a:spcBef>
                        <a:spcAft>
                          <a:spcPts val="0"/>
                        </a:spcAft>
                        <a:buNone/>
                      </a:pPr>
                      <a:r>
                        <a:rPr lang="en-US" sz="1600" b="1" spc="120">
                          <a:solidFill>
                            <a:schemeClr val="tx2"/>
                          </a:solidFill>
                          <a:latin typeface="Times New Roman" panose="02020603050405020304" pitchFamily="18" charset="0"/>
                          <a:ea typeface="Microsoft YaHei" panose="020B0503020204020204" charset="-122"/>
                          <a:cs typeface="Times New Roman" panose="02020603050405020304" pitchFamily="18" charset="0"/>
                        </a:rPr>
                        <a:t>METHODOLOGY</a:t>
                      </a:r>
                      <a:endParaRPr lang="en-US" sz="1600" b="1" spc="120">
                        <a:solidFill>
                          <a:schemeClr val="tx2"/>
                        </a:solidFill>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c>
                  <a:txBody>
                    <a:bodyPr/>
                    <a:p>
                      <a:pPr algn="ctr">
                        <a:lnSpc>
                          <a:spcPct val="120000"/>
                        </a:lnSpc>
                        <a:spcBef>
                          <a:spcPts val="0"/>
                        </a:spcBef>
                        <a:spcAft>
                          <a:spcPts val="0"/>
                        </a:spcAft>
                        <a:buNone/>
                      </a:pPr>
                      <a:r>
                        <a:rPr lang="en-US" sz="1600" b="1" spc="120">
                          <a:solidFill>
                            <a:schemeClr val="tx2"/>
                          </a:solidFill>
                          <a:latin typeface="Times New Roman" panose="02020603050405020304" pitchFamily="18" charset="0"/>
                          <a:ea typeface="Microsoft YaHei" panose="020B0503020204020204" charset="-122"/>
                          <a:cs typeface="Times New Roman" panose="02020603050405020304" pitchFamily="18" charset="0"/>
                        </a:rPr>
                        <a:t>YEAR</a:t>
                      </a:r>
                      <a:endParaRPr lang="en-US" sz="1600" b="1" spc="120">
                        <a:solidFill>
                          <a:schemeClr val="tx2"/>
                        </a:solidFill>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c>
                  <a:txBody>
                    <a:bodyPr/>
                    <a:p>
                      <a:pPr algn="ctr">
                        <a:lnSpc>
                          <a:spcPct val="120000"/>
                        </a:lnSpc>
                        <a:spcBef>
                          <a:spcPts val="0"/>
                        </a:spcBef>
                        <a:spcAft>
                          <a:spcPts val="0"/>
                        </a:spcAft>
                        <a:buNone/>
                      </a:pPr>
                      <a:r>
                        <a:rPr lang="en-US" sz="1600" b="1" spc="120">
                          <a:solidFill>
                            <a:schemeClr val="tx2"/>
                          </a:solidFill>
                          <a:latin typeface="Times New Roman" panose="02020603050405020304" pitchFamily="18" charset="0"/>
                          <a:ea typeface="Microsoft YaHei" panose="020B0503020204020204" charset="-122"/>
                          <a:cs typeface="Times New Roman" panose="02020603050405020304" pitchFamily="18" charset="0"/>
                        </a:rPr>
                        <a:t>OUTCOME</a:t>
                      </a:r>
                      <a:endParaRPr lang="en-US" sz="1600" b="1" spc="120">
                        <a:solidFill>
                          <a:schemeClr val="tx2"/>
                        </a:solidFill>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r>
              <a:tr h="1122045">
                <a:tc>
                  <a:txBody>
                    <a:bodyPr/>
                    <a:p>
                      <a:pPr algn="l">
                        <a:lnSpc>
                          <a:spcPct val="120000"/>
                        </a:lnSpc>
                        <a:spcBef>
                          <a:spcPts val="0"/>
                        </a:spcBef>
                        <a:spcAft>
                          <a:spcPts val="0"/>
                        </a:spcAft>
                      </a:pPr>
                      <a:r>
                        <a:rPr sz="1600">
                          <a:latin typeface="Times New Roman" panose="02020603050405020304" pitchFamily="18" charset="0"/>
                          <a:cs typeface="Times New Roman" panose="02020603050405020304" pitchFamily="18" charset="0"/>
                          <a:sym typeface="+mn-ea"/>
                        </a:rPr>
                        <a:t>Explainable DL for HD via scRNA-seq</a:t>
                      </a:r>
                      <a:endParaRPr lang="en-US" altLang="en-US" sz="1600" spc="60">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nchorCtr="0"/>
                </a:tc>
                <a:tc>
                  <a:txBody>
                    <a:bodyPr/>
                    <a:p>
                      <a:pPr algn="l">
                        <a:lnSpc>
                          <a:spcPct val="120000"/>
                        </a:lnSpc>
                        <a:spcBef>
                          <a:spcPts val="0"/>
                        </a:spcBef>
                        <a:spcAft>
                          <a:spcPts val="0"/>
                        </a:spcAft>
                        <a:buNone/>
                      </a:pPr>
                      <a:r>
                        <a:rPr lang="en-US" altLang="en-US" sz="1600">
                          <a:latin typeface="Times New Roman" panose="02020603050405020304" pitchFamily="18" charset="0"/>
                          <a:cs typeface="Times New Roman" panose="02020603050405020304" pitchFamily="18" charset="0"/>
                          <a:sym typeface="+mn-ea"/>
                        </a:rPr>
                        <a:t>Explainable deep learning applied to single-cell RNA sequencing</a:t>
                      </a:r>
                      <a:endParaRPr lang="en-US" altLang="en-US" sz="1600" spc="60">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c>
                  <a:txBody>
                    <a:bodyPr/>
                    <a:p>
                      <a:pPr algn="ctr">
                        <a:lnSpc>
                          <a:spcPct val="120000"/>
                        </a:lnSpc>
                        <a:spcBef>
                          <a:spcPts val="0"/>
                        </a:spcBef>
                        <a:spcAft>
                          <a:spcPts val="0"/>
                        </a:spcAft>
                        <a:buNone/>
                      </a:pPr>
                      <a:r>
                        <a:rPr lang="en-US" altLang="en-US" sz="1600" spc="60">
                          <a:latin typeface="Times New Roman" panose="02020603050405020304" pitchFamily="18" charset="0"/>
                          <a:ea typeface="Microsoft YaHei" panose="020B0503020204020204" charset="-122"/>
                          <a:cs typeface="Times New Roman" panose="02020603050405020304" pitchFamily="18" charset="0"/>
                        </a:rPr>
                        <a:t>2024</a:t>
                      </a:r>
                      <a:endParaRPr lang="en-US" altLang="en-US" sz="1600" spc="60">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c>
                  <a:txBody>
                    <a:bodyPr/>
                    <a:p>
                      <a:pPr algn="l"/>
                      <a:r>
                        <a:rPr lang="en-US" altLang="en-US" sz="1600">
                          <a:latin typeface="Times New Roman" panose="02020603050405020304" pitchFamily="18" charset="0"/>
                          <a:cs typeface="Times New Roman" panose="02020603050405020304" pitchFamily="18" charset="0"/>
                          <a:sym typeface="+mn-ea"/>
                        </a:rPr>
                        <a:t>Helped uncover biological mechanisms underlying HD at a cellular level. Supported precision medicine but interpretability remains challenging.</a:t>
                      </a:r>
                      <a:endParaRPr lang="en-US" altLang="en-US" sz="1600" spc="60">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r>
              <a:tr h="1120775">
                <a:tc>
                  <a:txBody>
                    <a:bodyPr/>
                    <a:p>
                      <a:pPr algn="l"/>
                      <a:r>
                        <a:rPr lang="en-US" altLang="en-US" sz="1600" spc="60">
                          <a:solidFill>
                            <a:schemeClr val="tx1"/>
                          </a:solidFill>
                          <a:latin typeface="Times New Roman" panose="02020603050405020304" pitchFamily="18" charset="0"/>
                          <a:ea typeface="Microsoft YaHei" panose="020B0503020204020204" charset="-122"/>
                          <a:cs typeface="Times New Roman" panose="02020603050405020304" pitchFamily="18" charset="0"/>
                          <a:sym typeface="+mn-ea"/>
                        </a:rPr>
                        <a:t>Triad ML-based Framework for Prognosis of HD</a:t>
                      </a:r>
                      <a:endParaRPr lang="en-US" altLang="en-US" sz="1600" spc="60">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c>
                  <a:txBody>
                    <a:bodyPr/>
                    <a:p>
                      <a:pPr algn="l"/>
                      <a:r>
                        <a:rPr lang="en-US" altLang="en-US" sz="1600">
                          <a:latin typeface="Times New Roman" panose="02020603050405020304" pitchFamily="18" charset="0"/>
                          <a:cs typeface="Times New Roman" panose="02020603050405020304" pitchFamily="18" charset="0"/>
                          <a:sym typeface="+mn-ea"/>
                        </a:rPr>
                        <a:t>Combined supervised ML models for prognosis</a:t>
                      </a:r>
                      <a:endParaRPr lang="en-US" altLang="en-US" sz="1600" spc="60">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c>
                  <a:txBody>
                    <a:bodyPr/>
                    <a:p>
                      <a:pPr algn="ctr">
                        <a:lnSpc>
                          <a:spcPct val="120000"/>
                        </a:lnSpc>
                        <a:spcBef>
                          <a:spcPts val="0"/>
                        </a:spcBef>
                        <a:spcAft>
                          <a:spcPts val="0"/>
                        </a:spcAft>
                        <a:buNone/>
                      </a:pPr>
                      <a:r>
                        <a:rPr lang="en-US" altLang="en-US" sz="1600" spc="60">
                          <a:latin typeface="Times New Roman" panose="02020603050405020304" pitchFamily="18" charset="0"/>
                          <a:ea typeface="Microsoft YaHei" panose="020B0503020204020204" charset="-122"/>
                          <a:cs typeface="Times New Roman" panose="02020603050405020304" pitchFamily="18" charset="0"/>
                        </a:rPr>
                        <a:t>2024</a:t>
                      </a:r>
                      <a:endParaRPr lang="en-US" altLang="en-US" sz="1600" spc="60">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c>
                  <a:txBody>
                    <a:bodyPr/>
                    <a:p>
                      <a:pPr algn="l">
                        <a:lnSpc>
                          <a:spcPct val="120000"/>
                        </a:lnSpc>
                        <a:spcBef>
                          <a:spcPts val="0"/>
                        </a:spcBef>
                        <a:spcAft>
                          <a:spcPts val="0"/>
                        </a:spcAft>
                        <a:buNone/>
                      </a:pPr>
                      <a:r>
                        <a:rPr lang="en-US" altLang="en-US" sz="1600">
                          <a:latin typeface="Times New Roman" panose="02020603050405020304" pitchFamily="18" charset="0"/>
                          <a:cs typeface="Times New Roman" panose="02020603050405020304" pitchFamily="18" charset="0"/>
                          <a:sym typeface="+mn-ea"/>
                        </a:rPr>
                        <a:t>Offered an integrative framework to predict HD progression stages. Improved interpretability and accuracy, though validation on larger datasets is still needed.</a:t>
                      </a:r>
                      <a:endParaRPr lang="en-US" altLang="en-US" sz="1600">
                        <a:latin typeface="Times New Roman" panose="02020603050405020304" pitchFamily="18" charset="0"/>
                        <a:cs typeface="Times New Roman" panose="02020603050405020304" pitchFamily="18" charset="0"/>
                      </a:endParaRPr>
                    </a:p>
                    <a:p>
                      <a:pPr algn="l">
                        <a:lnSpc>
                          <a:spcPct val="120000"/>
                        </a:lnSpc>
                        <a:spcBef>
                          <a:spcPts val="0"/>
                        </a:spcBef>
                        <a:spcAft>
                          <a:spcPts val="0"/>
                        </a:spcAft>
                        <a:buNone/>
                      </a:pPr>
                      <a:endParaRPr lang="en-US" altLang="en-US" sz="1600" spc="60">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r>
              <a:tr h="1122045">
                <a:tc>
                  <a:txBody>
                    <a:bodyPr/>
                    <a:p>
                      <a:pPr>
                        <a:buNone/>
                      </a:pPr>
                      <a:r>
                        <a:rPr lang="en-US" altLang="en-US" sz="1600">
                          <a:latin typeface="Times New Roman" panose="02020603050405020304" pitchFamily="18" charset="0"/>
                          <a:cs typeface="Times New Roman" panose="02020603050405020304" pitchFamily="18" charset="0"/>
                          <a:sym typeface="+mn-ea"/>
                        </a:rPr>
                        <a:t>External Evaluation of DL-based Brain Volumetry</a:t>
                      </a:r>
                      <a:endParaRPr lang="en-US" altLang="en-US" sz="1600" spc="60">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c>
                  <a:txBody>
                    <a:bodyPr/>
                    <a:p>
                      <a:pPr>
                        <a:buNone/>
                      </a:pPr>
                      <a:r>
                        <a:rPr lang="en-US" altLang="en-US" sz="1600">
                          <a:latin typeface="Times New Roman" panose="02020603050405020304" pitchFamily="18" charset="0"/>
                          <a:cs typeface="Times New Roman" panose="02020603050405020304" pitchFamily="18" charset="0"/>
                          <a:sym typeface="+mn-ea"/>
                        </a:rPr>
                        <a:t>Deep learning applied to automated brain volumetry</a:t>
                      </a:r>
                      <a:endParaRPr lang="en-US" altLang="en-US" sz="1600" spc="60">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c>
                  <a:txBody>
                    <a:bodyPr/>
                    <a:p>
                      <a:pPr algn="ctr">
                        <a:lnSpc>
                          <a:spcPct val="120000"/>
                        </a:lnSpc>
                        <a:spcBef>
                          <a:spcPts val="0"/>
                        </a:spcBef>
                        <a:spcAft>
                          <a:spcPts val="0"/>
                        </a:spcAft>
                        <a:buNone/>
                      </a:pPr>
                      <a:r>
                        <a:rPr lang="en-US" altLang="en-US" sz="1600" spc="60">
                          <a:latin typeface="Times New Roman" panose="02020603050405020304" pitchFamily="18" charset="0"/>
                          <a:ea typeface="Microsoft YaHei" panose="020B0503020204020204" charset="-122"/>
                          <a:cs typeface="Times New Roman" panose="02020603050405020304" pitchFamily="18" charset="0"/>
                        </a:rPr>
                        <a:t>2024</a:t>
                      </a:r>
                      <a:endParaRPr lang="en-US" altLang="en-US" sz="1600" spc="60">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c>
                  <a:txBody>
                    <a:bodyPr/>
                    <a:p>
                      <a:pPr algn="l"/>
                      <a:r>
                        <a:rPr lang="en-US" altLang="en-US" sz="1600">
                          <a:latin typeface="Times New Roman" panose="02020603050405020304" pitchFamily="18" charset="0"/>
                          <a:cs typeface="Times New Roman" panose="02020603050405020304" pitchFamily="18" charset="0"/>
                          <a:sym typeface="+mn-ea"/>
                        </a:rPr>
                        <a:t>Achieved accurate brain volume quantification in HD patients. Supported early structural analysis, although external generalization requires improvement.</a:t>
                      </a:r>
                      <a:endParaRPr lang="en-US" altLang="en-US" sz="1600">
                        <a:latin typeface="Times New Roman" panose="02020603050405020304" pitchFamily="18" charset="0"/>
                        <a:cs typeface="Times New Roman" panose="02020603050405020304" pitchFamily="18" charset="0"/>
                      </a:endParaRPr>
                    </a:p>
                    <a:p>
                      <a:pPr algn="l"/>
                      <a:endParaRPr lang="en-US" altLang="en-US" sz="1600" spc="60">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p:nvPr>
            <p:ph idx="1"/>
            <p:custDataLst>
              <p:tags r:id="rId1"/>
            </p:custDataLst>
          </p:nvPr>
        </p:nvGraphicFramePr>
        <p:xfrm>
          <a:off x="309880" y="469265"/>
          <a:ext cx="11536680" cy="6110605"/>
        </p:xfrm>
        <a:graphic>
          <a:graphicData uri="http://schemas.openxmlformats.org/drawingml/2006/table">
            <a:tbl>
              <a:tblPr firstRow="1" bandRow="1">
                <a:tableStyleId>{5C22544A-7EE6-4342-B048-85BDC9FD1C3A}</a:tableStyleId>
              </a:tblPr>
              <a:tblGrid>
                <a:gridCol w="2478405"/>
                <a:gridCol w="3503295"/>
                <a:gridCol w="1537335"/>
                <a:gridCol w="4017645"/>
              </a:tblGrid>
              <a:tr h="1795145">
                <a:tc>
                  <a:txBody>
                    <a:bodyPr/>
                    <a:p>
                      <a:pPr algn="l">
                        <a:lnSpc>
                          <a:spcPct val="120000"/>
                        </a:lnSpc>
                        <a:spcBef>
                          <a:spcPts val="0"/>
                        </a:spcBef>
                        <a:spcAft>
                          <a:spcPts val="0"/>
                        </a:spcAft>
                        <a:buNone/>
                      </a:pPr>
                      <a:r>
                        <a:rPr lang="en-US" altLang="en-US" sz="1800" b="0" spc="60">
                          <a:solidFill>
                            <a:schemeClr val="tx1"/>
                          </a:solidFill>
                          <a:latin typeface="Times New Roman" panose="02020603050405020304" pitchFamily="18" charset="0"/>
                          <a:ea typeface="Microsoft YaHei" panose="020B0503020204020204" charset="-122"/>
                          <a:cs typeface="Times New Roman" panose="02020603050405020304" pitchFamily="18" charset="0"/>
                        </a:rPr>
                        <a:t>Domain-based Feature Extraction for EEG, ECG, and fNIRS</a:t>
                      </a:r>
                      <a:endParaRPr lang="en-US" altLang="en-US" sz="1800" b="0" spc="60">
                        <a:solidFill>
                          <a:schemeClr val="tx1"/>
                        </a:solidFill>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solidFill>
                      <a:schemeClr val="accent1">
                        <a:lumMod val="20000"/>
                        <a:lumOff val="80000"/>
                      </a:schemeClr>
                    </a:solidFill>
                  </a:tcPr>
                </a:tc>
                <a:tc>
                  <a:txBody>
                    <a:bodyPr/>
                    <a:p>
                      <a:pPr algn="l"/>
                      <a:r>
                        <a:rPr lang="en-US" altLang="en-US" sz="1800" b="0" spc="60">
                          <a:solidFill>
                            <a:schemeClr val="tx1"/>
                          </a:solidFill>
                          <a:latin typeface="Times New Roman" panose="02020603050405020304" pitchFamily="18" charset="0"/>
                          <a:ea typeface="Microsoft YaHei" panose="020B0503020204020204" charset="-122"/>
                          <a:cs typeface="Times New Roman" panose="02020603050405020304" pitchFamily="18" charset="0"/>
                          <a:sym typeface="+mn-ea"/>
                        </a:rPr>
                        <a:t>Shallow ML models on multimodal biosignals</a:t>
                      </a:r>
                      <a:endParaRPr lang="en-US" altLang="en-US" sz="1800" b="0" spc="60">
                        <a:solidFill>
                          <a:schemeClr val="tx1"/>
                        </a:solidFill>
                        <a:latin typeface="Times New Roman" panose="02020603050405020304" pitchFamily="18" charset="0"/>
                        <a:ea typeface="Microsoft YaHei" panose="020B0503020204020204" charset="-122"/>
                        <a:cs typeface="Times New Roman" panose="02020603050405020304" pitchFamily="18" charset="0"/>
                        <a:sym typeface="+mn-ea"/>
                      </a:endParaRPr>
                    </a:p>
                  </a:txBody>
                  <a:tcPr marL="107950" marR="107950" marT="63500" marB="63500" anchor="ctr">
                    <a:solidFill>
                      <a:schemeClr val="accent1">
                        <a:lumMod val="20000"/>
                        <a:lumOff val="80000"/>
                      </a:schemeClr>
                    </a:solidFill>
                  </a:tcPr>
                </a:tc>
                <a:tc>
                  <a:txBody>
                    <a:bodyPr/>
                    <a:p>
                      <a:pPr algn="ctr">
                        <a:lnSpc>
                          <a:spcPct val="120000"/>
                        </a:lnSpc>
                        <a:spcBef>
                          <a:spcPts val="0"/>
                        </a:spcBef>
                        <a:spcAft>
                          <a:spcPts val="0"/>
                        </a:spcAft>
                        <a:buNone/>
                      </a:pPr>
                      <a:r>
                        <a:rPr lang="en-US" altLang="en-US" sz="1800" b="0" spc="60">
                          <a:solidFill>
                            <a:schemeClr val="tx1"/>
                          </a:solidFill>
                          <a:latin typeface="Times New Roman" panose="02020603050405020304" pitchFamily="18" charset="0"/>
                          <a:ea typeface="Microsoft YaHei" panose="020B0503020204020204" charset="-122"/>
                          <a:cs typeface="Times New Roman" panose="02020603050405020304" pitchFamily="18" charset="0"/>
                        </a:rPr>
                        <a:t>2024</a:t>
                      </a:r>
                      <a:endParaRPr lang="en-US" altLang="en-US" sz="1800" b="0" spc="60">
                        <a:solidFill>
                          <a:schemeClr val="tx1"/>
                        </a:solidFill>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solidFill>
                      <a:schemeClr val="accent1">
                        <a:lumMod val="20000"/>
                        <a:lumOff val="80000"/>
                      </a:schemeClr>
                    </a:solidFill>
                  </a:tcPr>
                </a:tc>
                <a:tc>
                  <a:txBody>
                    <a:bodyPr/>
                    <a:p>
                      <a:pPr algn="l">
                        <a:lnSpc>
                          <a:spcPct val="120000"/>
                        </a:lnSpc>
                        <a:spcBef>
                          <a:spcPts val="0"/>
                        </a:spcBef>
                        <a:spcAft>
                          <a:spcPts val="0"/>
                        </a:spcAft>
                        <a:buNone/>
                      </a:pPr>
                      <a:r>
                        <a:rPr lang="en-US" altLang="en-US" sz="1800" b="0" spc="60">
                          <a:solidFill>
                            <a:schemeClr val="tx1"/>
                          </a:solidFill>
                          <a:latin typeface="Times New Roman" panose="02020603050405020304" pitchFamily="18" charset="0"/>
                          <a:ea typeface="Microsoft YaHei" panose="020B0503020204020204" charset="-122"/>
                          <a:cs typeface="Times New Roman" panose="02020603050405020304" pitchFamily="18" charset="0"/>
                        </a:rPr>
                        <a:t>Showed competitive performance in HD diagnosis using non-invasive signals. Highlighted the importance of multimodal fusion but required higher robustness.</a:t>
                      </a:r>
                      <a:endParaRPr lang="en-US" altLang="en-US" sz="1800" b="0" spc="60">
                        <a:solidFill>
                          <a:schemeClr val="tx1"/>
                        </a:solidFill>
                        <a:latin typeface="Times New Roman" panose="02020603050405020304" pitchFamily="18" charset="0"/>
                        <a:ea typeface="Microsoft YaHei" panose="020B0503020204020204" charset="-122"/>
                        <a:cs typeface="Times New Roman" panose="02020603050405020304" pitchFamily="18" charset="0"/>
                      </a:endParaRPr>
                    </a:p>
                  </a:txBody>
                  <a:tcPr marL="107950" marR="107950" marT="63500" marB="63500" anchor="ctr">
                    <a:solidFill>
                      <a:schemeClr val="accent1">
                        <a:lumMod val="20000"/>
                        <a:lumOff val="80000"/>
                      </a:schemeClr>
                    </a:solidFill>
                  </a:tcPr>
                </a:tc>
              </a:tr>
              <a:tr h="1379220">
                <a:tc>
                  <a:txBody>
                    <a:bodyPr/>
                    <a:p>
                      <a:pPr algn="l"/>
                      <a:r>
                        <a:rPr lang="en-US" altLang="en-US" sz="1800">
                          <a:latin typeface="Times New Roman" panose="02020603050405020304" pitchFamily="18" charset="0"/>
                          <a:cs typeface="Times New Roman" panose="02020603050405020304" pitchFamily="18" charset="0"/>
                        </a:rPr>
                        <a:t>DL Analysis of Organoids for Drug Screening</a:t>
                      </a:r>
                      <a:endParaRPr lang="en-US" altLang="en-US" sz="1800">
                        <a:latin typeface="Times New Roman" panose="02020603050405020304" pitchFamily="18" charset="0"/>
                        <a:cs typeface="Times New Roman" panose="02020603050405020304" pitchFamily="18" charset="0"/>
                      </a:endParaRPr>
                    </a:p>
                  </a:txBody>
                  <a:tcPr marL="0" marR="0" marT="0" marB="0" anchor="ctr" anchorCtr="0"/>
                </a:tc>
                <a:tc>
                  <a:txBody>
                    <a:bodyPr/>
                    <a:p>
                      <a:pPr algn="l"/>
                      <a:r>
                        <a:rPr lang="en-US" altLang="en-US" sz="1800">
                          <a:latin typeface="Times New Roman" panose="02020603050405020304" pitchFamily="18" charset="0"/>
                          <a:cs typeface="Times New Roman" panose="02020603050405020304" pitchFamily="18" charset="0"/>
                        </a:rPr>
                        <a:t>Deep learning on micropattern-based organoids</a:t>
                      </a:r>
                      <a:endParaRPr lang="en-US" altLang="en-US"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lang="en-US" altLang="en-US" sz="1800">
                          <a:latin typeface="Times New Roman" panose="02020603050405020304" pitchFamily="18" charset="0"/>
                          <a:cs typeface="Times New Roman" panose="02020603050405020304" pitchFamily="18" charset="0"/>
                        </a:rPr>
                        <a:t>2022</a:t>
                      </a:r>
                      <a:endParaRPr lang="en-US" altLang="en-US" sz="1800">
                        <a:latin typeface="Times New Roman" panose="02020603050405020304" pitchFamily="18" charset="0"/>
                        <a:cs typeface="Times New Roman" panose="02020603050405020304" pitchFamily="18" charset="0"/>
                      </a:endParaRPr>
                    </a:p>
                  </a:txBody>
                  <a:tcPr marL="0" marR="0" marT="0" marB="0" anchor="ctr" anchorCtr="0"/>
                </a:tc>
                <a:tc>
                  <a:txBody>
                    <a:bodyPr/>
                    <a:p>
                      <a:pPr algn="l"/>
                      <a:r>
                        <a:rPr lang="en-US" altLang="en-US" sz="1800">
                          <a:latin typeface="Times New Roman" panose="02020603050405020304" pitchFamily="18" charset="0"/>
                          <a:cs typeface="Times New Roman" panose="02020603050405020304" pitchFamily="18" charset="0"/>
                        </a:rPr>
                        <a:t>Enabled large-scale drug screening for HD using organoid models. Provided a cost-effective approach for therapeutic testing.</a:t>
                      </a:r>
                      <a:endParaRPr lang="en-US" altLang="en-US" sz="1800">
                        <a:latin typeface="Times New Roman" panose="02020603050405020304" pitchFamily="18" charset="0"/>
                        <a:cs typeface="Times New Roman" panose="02020603050405020304" pitchFamily="18" charset="0"/>
                      </a:endParaRPr>
                    </a:p>
                  </a:txBody>
                  <a:tcPr marL="0" marR="0" marT="0" marB="0" anchor="ctr" anchorCtr="0"/>
                </a:tc>
              </a:tr>
              <a:tr h="1421130">
                <a:tc>
                  <a:txBody>
                    <a:bodyPr/>
                    <a:p>
                      <a:pPr algn="l"/>
                      <a:r>
                        <a:rPr lang="en-US" altLang="en-US" sz="1800" spc="60">
                          <a:solidFill>
                            <a:schemeClr val="tx1"/>
                          </a:solidFill>
                          <a:latin typeface="Times New Roman" panose="02020603050405020304" pitchFamily="18" charset="0"/>
                          <a:ea typeface="Microsoft YaHei" panose="020B0503020204020204" charset="-122"/>
                          <a:cs typeface="Times New Roman" panose="02020603050405020304" pitchFamily="18" charset="0"/>
                        </a:rPr>
                        <a:t>ML-derived HD Progression Model</a:t>
                      </a:r>
                      <a:endParaRPr lang="en-US" altLang="en-US" sz="1800" spc="60">
                        <a:solidFill>
                          <a:schemeClr val="tx1"/>
                        </a:solidFill>
                        <a:latin typeface="Times New Roman" panose="02020603050405020304" pitchFamily="18" charset="0"/>
                        <a:ea typeface="Microsoft YaHei" panose="020B0503020204020204" charset="-122"/>
                        <a:cs typeface="Times New Roman" panose="02020603050405020304" pitchFamily="18" charset="0"/>
                      </a:endParaRPr>
                    </a:p>
                  </a:txBody>
                  <a:tcPr marL="0" marR="0" marT="0" marB="0" anchor="ctr" anchorCtr="0"/>
                </a:tc>
                <a:tc>
                  <a:txBody>
                    <a:bodyPr/>
                    <a:p>
                      <a:pPr algn="l"/>
                      <a:r>
                        <a:rPr lang="en-US" altLang="en-US" sz="1800">
                          <a:latin typeface="Times New Roman" panose="02020603050405020304" pitchFamily="18" charset="0"/>
                          <a:cs typeface="Times New Roman" panose="02020603050405020304" pitchFamily="18" charset="0"/>
                        </a:rPr>
                        <a:t>Machine learning progression modeling</a:t>
                      </a:r>
                      <a:endParaRPr lang="en-US" altLang="en-US" sz="1800">
                        <a:latin typeface="Times New Roman" panose="02020603050405020304" pitchFamily="18" charset="0"/>
                        <a:cs typeface="Times New Roman" panose="02020603050405020304" pitchFamily="18" charset="0"/>
                      </a:endParaRPr>
                    </a:p>
                  </a:txBody>
                  <a:tcPr marL="0" marR="0" marT="0" marB="0" anchor="ctr" anchorCtr="0"/>
                </a:tc>
                <a:tc>
                  <a:txBody>
                    <a:bodyPr/>
                    <a:p>
                      <a:pPr algn="ctr"/>
                      <a:r>
                        <a:rPr lang="en-US" altLang="en-US" sz="1800">
                          <a:latin typeface="Times New Roman" panose="02020603050405020304" pitchFamily="18" charset="0"/>
                          <a:cs typeface="Times New Roman" panose="02020603050405020304" pitchFamily="18" charset="0"/>
                        </a:rPr>
                        <a:t>2022</a:t>
                      </a:r>
                      <a:endParaRPr lang="en-US" altLang="en-US" sz="1800">
                        <a:latin typeface="Times New Roman" panose="02020603050405020304" pitchFamily="18" charset="0"/>
                        <a:cs typeface="Times New Roman" panose="02020603050405020304" pitchFamily="18" charset="0"/>
                      </a:endParaRPr>
                    </a:p>
                  </a:txBody>
                  <a:tcPr marL="0" marR="0" marT="0" marB="0" anchor="ctr" anchorCtr="0"/>
                </a:tc>
                <a:tc>
                  <a:txBody>
                    <a:bodyPr/>
                    <a:p>
                      <a:pPr algn="l"/>
                      <a:r>
                        <a:rPr lang="en-US" altLang="en-US" sz="1800">
                          <a:latin typeface="Times New Roman" panose="02020603050405020304" pitchFamily="18" charset="0"/>
                          <a:cs typeface="Times New Roman" panose="02020603050405020304" pitchFamily="18" charset="0"/>
                        </a:rPr>
                        <a:t>Predicted disease progression and supported clinical trial design. Demonstrated practical utility but requires continuous validation.</a:t>
                      </a:r>
                      <a:endParaRPr lang="en-US" altLang="en-US" sz="1800">
                        <a:latin typeface="Times New Roman" panose="02020603050405020304" pitchFamily="18" charset="0"/>
                        <a:cs typeface="Times New Roman" panose="02020603050405020304" pitchFamily="18" charset="0"/>
                      </a:endParaRPr>
                    </a:p>
                  </a:txBody>
                  <a:tcPr marL="0" marR="0" marT="0" marB="0" anchor="ctr" anchorCtr="0"/>
                </a:tc>
              </a:tr>
              <a:tr h="1515110">
                <a:tc>
                  <a:txBody>
                    <a:bodyPr/>
                    <a:p>
                      <a:pPr>
                        <a:buNone/>
                      </a:pPr>
                      <a:r>
                        <a:rPr lang="en-US" altLang="en-US" sz="1800">
                          <a:latin typeface="Times New Roman" panose="02020603050405020304" pitchFamily="18" charset="0"/>
                          <a:cs typeface="Times New Roman" panose="02020603050405020304" pitchFamily="18" charset="0"/>
                        </a:rPr>
                        <a:t>DL-based Gait Analysis for HD</a:t>
                      </a:r>
                      <a:endParaRPr lang="en-US" altLang="en-US" sz="1800">
                        <a:latin typeface="Times New Roman" panose="02020603050405020304" pitchFamily="18" charset="0"/>
                        <a:cs typeface="Times New Roman" panose="02020603050405020304" pitchFamily="18" charset="0"/>
                      </a:endParaRPr>
                    </a:p>
                  </a:txBody>
                  <a:tcPr/>
                </a:tc>
                <a:tc>
                  <a:txBody>
                    <a:bodyPr/>
                    <a:p>
                      <a:pPr>
                        <a:buNone/>
                      </a:pPr>
                      <a:r>
                        <a:rPr lang="en-US" altLang="en-US" sz="1800">
                          <a:latin typeface="Times New Roman" panose="02020603050405020304" pitchFamily="18" charset="0"/>
                          <a:cs typeface="Times New Roman" panose="02020603050405020304" pitchFamily="18" charset="0"/>
                        </a:rPr>
                        <a:t>Deep learning on gait datasets</a:t>
                      </a:r>
                      <a:endParaRPr lang="en-US" altLang="en-US" sz="1800">
                        <a:latin typeface="Times New Roman" panose="02020603050405020304" pitchFamily="18" charset="0"/>
                        <a:cs typeface="Times New Roman" panose="02020603050405020304" pitchFamily="18" charset="0"/>
                      </a:endParaRPr>
                    </a:p>
                  </a:txBody>
                  <a:tcPr/>
                </a:tc>
                <a:tc>
                  <a:txBody>
                    <a:bodyPr/>
                    <a:p>
                      <a:pPr algn="ctr">
                        <a:buNone/>
                      </a:pPr>
                      <a:endParaRPr lang="en-US" altLang="en-US" sz="1800">
                        <a:latin typeface="Times New Roman" panose="02020603050405020304" pitchFamily="18" charset="0"/>
                        <a:cs typeface="Times New Roman" panose="02020603050405020304" pitchFamily="18" charset="0"/>
                      </a:endParaRPr>
                    </a:p>
                    <a:p>
                      <a:pPr algn="ctr">
                        <a:buNone/>
                      </a:pPr>
                      <a:endParaRPr lang="en-US" altLang="en-US" sz="1800">
                        <a:latin typeface="Times New Roman" panose="02020603050405020304" pitchFamily="18" charset="0"/>
                        <a:cs typeface="Times New Roman" panose="02020603050405020304" pitchFamily="18" charset="0"/>
                      </a:endParaRPr>
                    </a:p>
                    <a:p>
                      <a:pPr algn="ctr">
                        <a:buNone/>
                      </a:pPr>
                      <a:r>
                        <a:rPr lang="en-US" altLang="en-US" sz="1800">
                          <a:latin typeface="Times New Roman" panose="02020603050405020304" pitchFamily="18" charset="0"/>
                          <a:cs typeface="Times New Roman" panose="02020603050405020304" pitchFamily="18" charset="0"/>
                        </a:rPr>
                        <a:t>2019</a:t>
                      </a:r>
                      <a:endParaRPr lang="en-US" altLang="en-US" sz="1800">
                        <a:latin typeface="Times New Roman" panose="02020603050405020304" pitchFamily="18" charset="0"/>
                        <a:cs typeface="Times New Roman" panose="02020603050405020304" pitchFamily="18" charset="0"/>
                      </a:endParaRPr>
                    </a:p>
                  </a:txBody>
                  <a:tcPr/>
                </a:tc>
                <a:tc>
                  <a:txBody>
                    <a:bodyPr/>
                    <a:p>
                      <a:pPr>
                        <a:buNone/>
                      </a:pPr>
                      <a:r>
                        <a:rPr lang="en-US" altLang="en-US" sz="1800">
                          <a:latin typeface="Times New Roman" panose="02020603050405020304" pitchFamily="18" charset="0"/>
                          <a:cs typeface="Times New Roman" panose="02020603050405020304" pitchFamily="18" charset="0"/>
                        </a:rPr>
                        <a:t>Demonstrated feasibility of gait-based HD detection. Provided early direction for movement analysis using AI.</a:t>
                      </a:r>
                      <a:endParaRPr lang="en-US" altLang="en-US" sz="180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01930"/>
            <a:ext cx="10515600" cy="1132840"/>
          </a:xfrm>
        </p:spPr>
        <p:txBody>
          <a:bodyPr/>
          <a:p>
            <a:pPr algn="ctr"/>
            <a:r>
              <a:rPr lang="en-US" altLang="en-US" b="1">
                <a:latin typeface="Times New Roman" panose="02020603050405020304" pitchFamily="18" charset="0"/>
                <a:cs typeface="Times New Roman" panose="02020603050405020304" pitchFamily="18" charset="0"/>
              </a:rPr>
              <a:t>EXISTING SYSTEM</a:t>
            </a:r>
            <a:endParaRPr lang="en-US" alt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4180" y="1122680"/>
            <a:ext cx="11209020" cy="5151120"/>
          </a:xfrm>
        </p:spPr>
        <p:txBody>
          <a:bodyPr>
            <a:noAutofit/>
          </a:bodyPr>
          <a:p>
            <a:pPr algn="just">
              <a:lnSpc>
                <a:spcPct val="100000"/>
              </a:lnSpc>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Traditional methods for malnutrition detection rely on manual anthropometric measurements such as height, weight, and mid-upper arm circumference, along with visual observation by healthcare workers. Some machine learning approaches use survey data, demographic information, or facial images, but these methods are often applied separately. </a:t>
            </a:r>
            <a:endParaRPr lang="en-US" altLang="en-US" sz="3200">
              <a:latin typeface="Times New Roman" panose="02020603050405020304" pitchFamily="18" charset="0"/>
              <a:cs typeface="Times New Roman" panose="02020603050405020304" pitchFamily="18" charset="0"/>
            </a:endParaRPr>
          </a:p>
          <a:p>
            <a:pPr algn="just">
              <a:lnSpc>
                <a:spcPct val="100000"/>
              </a:lnSpc>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Many existing systems focus on a single data source and lack explainability, making them less effective for accurate early detection and large-scale screening.</a:t>
            </a:r>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tLang="en-US" b="1">
                <a:latin typeface="Times New Roman" panose="02020603050405020304" pitchFamily="18" charset="0"/>
                <a:cs typeface="Times New Roman" panose="02020603050405020304" pitchFamily="18" charset="0"/>
              </a:rPr>
              <a:t>DRAWBACKS OF EXISTING SYSTEM</a:t>
            </a:r>
            <a:endParaRPr lang="en-US" alt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1365" y="1691640"/>
            <a:ext cx="10592435" cy="4485640"/>
          </a:xfrm>
        </p:spPr>
        <p:txBody>
          <a:bodyPr>
            <a:normAutofit lnSpcReduction="20000"/>
          </a:bodyPr>
          <a:p>
            <a:r>
              <a:rPr lang="en-US" altLang="en-US">
                <a:latin typeface="Times New Roman" panose="02020603050405020304" pitchFamily="18" charset="0"/>
                <a:cs typeface="Times New Roman" panose="02020603050405020304" pitchFamily="18" charset="0"/>
              </a:rPr>
              <a:t>Many methods rely on a single data type (genetic or imaging).</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CNN/RNN models cannot capture long DNA sequence patterns well.</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Traditional ML may overlook subtle early HD changes.</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Brain and genetic data are not integrated effectively.</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This reduces accuracy in early detection and disease monitoring.</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24155"/>
            <a:ext cx="10515600" cy="1407795"/>
          </a:xfrm>
        </p:spPr>
        <p:txBody>
          <a:bodyPr/>
          <a:p>
            <a:pPr algn="ctr"/>
            <a:r>
              <a:rPr lang="en-US" altLang="en-US" b="1">
                <a:latin typeface="Times New Roman" panose="02020603050405020304" pitchFamily="18" charset="0"/>
                <a:cs typeface="Times New Roman" panose="02020603050405020304" pitchFamily="18" charset="0"/>
              </a:rPr>
              <a:t>PROPOSED SYSTEM</a:t>
            </a:r>
            <a:endParaRPr lang="en-US" alt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74420"/>
            <a:ext cx="10515600" cy="5102860"/>
          </a:xfrm>
        </p:spPr>
        <p:txBody>
          <a:bodyPr>
            <a:noAutofit/>
          </a:bodyPr>
          <a:p>
            <a:pPr algn="just">
              <a:lnSpc>
                <a:spcPct val="110000"/>
              </a:lnSpc>
            </a:pPr>
            <a:r>
              <a:rPr lang="en-US" altLang="en-US" sz="3100">
                <a:latin typeface="Times New Roman" panose="02020603050405020304" pitchFamily="18" charset="0"/>
                <a:cs typeface="Times New Roman" panose="02020603050405020304" pitchFamily="18" charset="0"/>
              </a:rPr>
              <a:t>The proposed system integrates advanced deep learning models to analyze multiple data sources together. Genetic features are extracted using Graph Neural Networks, while brain MRI images are analyzed using EfficientNet. A transformer-based fusion method combines genetic and imaging information to improve prediction accuracy. </a:t>
            </a:r>
            <a:endParaRPr lang="en-US" altLang="en-US" sz="3100">
              <a:latin typeface="Times New Roman" panose="02020603050405020304" pitchFamily="18" charset="0"/>
              <a:cs typeface="Times New Roman" panose="02020603050405020304" pitchFamily="18" charset="0"/>
            </a:endParaRPr>
          </a:p>
          <a:p>
            <a:pPr algn="just">
              <a:lnSpc>
                <a:spcPct val="110000"/>
              </a:lnSpc>
            </a:pPr>
            <a:r>
              <a:rPr lang="en-US" altLang="en-US" sz="3100">
                <a:latin typeface="Times New Roman" panose="02020603050405020304" pitchFamily="18" charset="0"/>
                <a:cs typeface="Times New Roman" panose="02020603050405020304" pitchFamily="18" charset="0"/>
              </a:rPr>
              <a:t>The model also includes explainable AI techniques to provide clear insights into predictions. This approach supports early disease detection, improves reliability, and overcomes the limitations of existing single-modal methods.</a:t>
            </a:r>
            <a:endParaRPr lang="en-US" altLang="en-US" sz="31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10285" y="0"/>
            <a:ext cx="10515600" cy="1344295"/>
          </a:xfrm>
        </p:spPr>
        <p:txBody>
          <a:bodyPr/>
          <a:p>
            <a:pPr algn="ctr"/>
            <a:r>
              <a:rPr lang="en-US" altLang="en-US" b="1">
                <a:latin typeface="Times New Roman" panose="02020603050405020304" pitchFamily="18" charset="0"/>
                <a:cs typeface="Times New Roman" panose="02020603050405020304" pitchFamily="18" charset="0"/>
              </a:rPr>
              <a:t>ADVANTAGES OF PROPOSED SYSTEM</a:t>
            </a:r>
            <a:endParaRPr lang="en-US" alt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35610" y="1124585"/>
            <a:ext cx="11348085" cy="4725035"/>
          </a:xfrm>
        </p:spPr>
        <p:txBody>
          <a:bodyPr>
            <a:noAutofit/>
          </a:bodyPr>
          <a:p>
            <a:r>
              <a:rPr lang="en-US" altLang="en-US">
                <a:latin typeface="Times New Roman" panose="02020603050405020304" pitchFamily="18" charset="0"/>
                <a:cs typeface="Times New Roman" panose="02020603050405020304" pitchFamily="18" charset="0"/>
              </a:rPr>
              <a:t>Early Disease Prediction: Identifies Huntington’s disease at an early stage by analyzing MRI and genetic data together, enabling timely intervention and improved patient outcomes.</a:t>
            </a:r>
            <a:endParaRPr lang="en-US" altLang="en-US">
              <a:latin typeface="Times New Roman" panose="02020603050405020304" pitchFamily="18" charset="0"/>
              <a:cs typeface="Times New Roman" panose="02020603050405020304" pitchFamily="18" charset="0"/>
            </a:endParaRPr>
          </a:p>
          <a:p>
            <a:pPr marL="0" indent="0">
              <a:buNone/>
            </a:pP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High Prediction Accuracy: Uses advanced deep learning models to learn intricate patterns, ensuring reliable and consistent predictions.</a:t>
            </a:r>
            <a:endParaRPr lang="en-US" altLang="en-US">
              <a:latin typeface="Times New Roman" panose="02020603050405020304" pitchFamily="18" charset="0"/>
              <a:cs typeface="Times New Roman" panose="02020603050405020304" pitchFamily="18" charset="0"/>
            </a:endParaRPr>
          </a:p>
          <a:p>
            <a:pPr marL="0" indent="0">
              <a:buNone/>
            </a:pP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Explainable AI: Provides clear insights into genetic and brain factors, enhancing transparency and clinical trust.</a:t>
            </a:r>
            <a:endParaRPr lang="en-US" altLang="en-US">
              <a:latin typeface="Times New Roman" panose="02020603050405020304" pitchFamily="18" charset="0"/>
              <a:cs typeface="Times New Roman" panose="02020603050405020304" pitchFamily="18" charset="0"/>
            </a:endParaRPr>
          </a:p>
          <a:p>
            <a:pPr marL="0" indent="0">
              <a:buNone/>
            </a:pP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Improved Clinical Support: Assists healthcare professionals with data-driven insights, enabling better decision-making and patient management.</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28270"/>
            <a:ext cx="10515600" cy="1189990"/>
          </a:xfrm>
        </p:spPr>
        <p:txBody>
          <a:bodyPr/>
          <a:p>
            <a:pPr algn="ctr"/>
            <a:r>
              <a:rPr lang="en-US" altLang="en-US" b="1">
                <a:latin typeface="Times New Roman" panose="02020603050405020304" pitchFamily="18" charset="0"/>
                <a:cs typeface="Times New Roman" panose="02020603050405020304" pitchFamily="18" charset="0"/>
              </a:rPr>
              <a:t>SYSTEM DESIGN </a:t>
            </a:r>
            <a:endParaRPr lang="en-US" altLang="en-US" b="1">
              <a:latin typeface="Times New Roman" panose="02020603050405020304" pitchFamily="18" charset="0"/>
              <a:cs typeface="Times New Roman" panose="02020603050405020304" pitchFamily="18" charset="0"/>
            </a:endParaRPr>
          </a:p>
        </p:txBody>
      </p:sp>
      <p:pic>
        <p:nvPicPr>
          <p:cNvPr id="5" name="Content Placeholder 4" descr="FD"/>
          <p:cNvPicPr>
            <a:picLocks noChangeAspect="1"/>
          </p:cNvPicPr>
          <p:nvPr>
            <p:ph idx="1"/>
          </p:nvPr>
        </p:nvPicPr>
        <p:blipFill>
          <a:blip r:embed="rId1"/>
          <a:stretch>
            <a:fillRect/>
          </a:stretch>
        </p:blipFill>
        <p:spPr>
          <a:xfrm>
            <a:off x="2875280" y="810260"/>
            <a:ext cx="6063615" cy="60477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39725" y="216535"/>
            <a:ext cx="11616055" cy="6419215"/>
          </a:xfrm>
        </p:spPr>
        <p:txBody>
          <a:bodyPr>
            <a:normAutofit fontScale="25000"/>
          </a:bodyPr>
          <a:p>
            <a:pPr marL="0" indent="0">
              <a:lnSpc>
                <a:spcPct val="100000"/>
              </a:lnSpc>
              <a:buNone/>
            </a:pPr>
            <a:r>
              <a:rPr lang="en-US" altLang="en-US" sz="9600" b="1">
                <a:latin typeface="Times New Roman" panose="02020603050405020304" pitchFamily="18" charset="0"/>
                <a:cs typeface="Times New Roman" panose="02020603050405020304" pitchFamily="18" charset="0"/>
              </a:rPr>
              <a:t>Step1:</a:t>
            </a:r>
            <a:r>
              <a:rPr lang="en-US" altLang="en-US" sz="11200" b="1">
                <a:latin typeface="Times New Roman" panose="02020603050405020304" pitchFamily="18" charset="0"/>
                <a:cs typeface="Times New Roman" panose="02020603050405020304" pitchFamily="18" charset="0"/>
              </a:rPr>
              <a:t> Input Layer - </a:t>
            </a:r>
            <a:r>
              <a:rPr lang="en-US" altLang="en-US" sz="11200">
                <a:latin typeface="Times New Roman" panose="02020603050405020304" pitchFamily="18" charset="0"/>
                <a:cs typeface="Times New Roman" panose="02020603050405020304" pitchFamily="18" charset="0"/>
              </a:rPr>
              <a:t>Collects Brain MRI scans and HTT gene DNA sequences.</a:t>
            </a:r>
            <a:endParaRPr lang="en-US" altLang="en-US" sz="11200">
              <a:latin typeface="Times New Roman" panose="02020603050405020304" pitchFamily="18" charset="0"/>
              <a:cs typeface="Times New Roman" panose="02020603050405020304" pitchFamily="18" charset="0"/>
            </a:endParaRPr>
          </a:p>
          <a:p>
            <a:pPr marL="0" indent="0">
              <a:lnSpc>
                <a:spcPct val="100000"/>
              </a:lnSpc>
              <a:buNone/>
            </a:pPr>
            <a:r>
              <a:rPr lang="en-US" altLang="en-US" sz="9600" b="1">
                <a:latin typeface="Times New Roman" panose="02020603050405020304" pitchFamily="18" charset="0"/>
                <a:cs typeface="Times New Roman" panose="02020603050405020304" pitchFamily="18" charset="0"/>
              </a:rPr>
              <a:t>Step2:</a:t>
            </a:r>
            <a:r>
              <a:rPr lang="en-US" altLang="en-US" sz="11200" b="1">
                <a:latin typeface="Times New Roman" panose="02020603050405020304" pitchFamily="18" charset="0"/>
                <a:cs typeface="Times New Roman" panose="02020603050405020304" pitchFamily="18" charset="0"/>
              </a:rPr>
              <a:t> Processing Layer:</a:t>
            </a:r>
            <a:r>
              <a:rPr lang="en-US" altLang="en-US" sz="11200">
                <a:latin typeface="Times New Roman" panose="02020603050405020304" pitchFamily="18" charset="0"/>
                <a:cs typeface="Times New Roman" panose="02020603050405020304" pitchFamily="18" charset="0"/>
              </a:rPr>
              <a:t> -MRI is resized, normalized, and denoised</a:t>
            </a:r>
            <a:endParaRPr lang="en-US" altLang="en-US" sz="11200">
              <a:latin typeface="Times New Roman" panose="02020603050405020304" pitchFamily="18" charset="0"/>
              <a:cs typeface="Times New Roman" panose="02020603050405020304" pitchFamily="18" charset="0"/>
            </a:endParaRPr>
          </a:p>
          <a:p>
            <a:pPr marL="0" indent="0">
              <a:lnSpc>
                <a:spcPct val="100000"/>
              </a:lnSpc>
              <a:buNone/>
            </a:pPr>
            <a:r>
              <a:rPr lang="en-US" altLang="en-US" sz="11200">
                <a:latin typeface="Times New Roman" panose="02020603050405020304" pitchFamily="18" charset="0"/>
                <a:cs typeface="Times New Roman" panose="02020603050405020304" pitchFamily="18" charset="0"/>
              </a:rPr>
              <a:t>                                          -DNA is encoded into sequence format</a:t>
            </a:r>
            <a:endParaRPr lang="en-US" altLang="en-US" sz="11200">
              <a:latin typeface="Times New Roman" panose="02020603050405020304" pitchFamily="18" charset="0"/>
              <a:cs typeface="Times New Roman" panose="02020603050405020304" pitchFamily="18" charset="0"/>
            </a:endParaRPr>
          </a:p>
          <a:p>
            <a:pPr marL="0" indent="0">
              <a:lnSpc>
                <a:spcPct val="100000"/>
              </a:lnSpc>
              <a:buFont typeface="Arial" panose="020B0604020202020204" pitchFamily="34" charset="0"/>
              <a:buNone/>
            </a:pPr>
            <a:r>
              <a:rPr lang="en-US" altLang="en-US" sz="9600" b="1">
                <a:latin typeface="Times New Roman" panose="02020603050405020304" pitchFamily="18" charset="0"/>
                <a:cs typeface="Times New Roman" panose="02020603050405020304" pitchFamily="18" charset="0"/>
              </a:rPr>
              <a:t>Step3:</a:t>
            </a:r>
            <a:r>
              <a:rPr lang="en-US" altLang="en-US" sz="11200" b="1">
                <a:latin typeface="Times New Roman" panose="02020603050405020304" pitchFamily="18" charset="0"/>
                <a:cs typeface="Times New Roman" panose="02020603050405020304" pitchFamily="18" charset="0"/>
              </a:rPr>
              <a:t> Feature Extraction: </a:t>
            </a:r>
            <a:r>
              <a:rPr lang="en-US" altLang="en-US" sz="11200">
                <a:latin typeface="Times New Roman" panose="02020603050405020304" pitchFamily="18" charset="0"/>
                <a:cs typeface="Times New Roman" panose="02020603050405020304" pitchFamily="18" charset="0"/>
              </a:rPr>
              <a:t>-EfficientNet-B3 extracts MRI features</a:t>
            </a:r>
            <a:endParaRPr lang="en-US" altLang="en-US" sz="11200">
              <a:latin typeface="Times New Roman" panose="02020603050405020304" pitchFamily="18" charset="0"/>
              <a:cs typeface="Times New Roman" panose="02020603050405020304" pitchFamily="18" charset="0"/>
            </a:endParaRPr>
          </a:p>
          <a:p>
            <a:pPr marL="0" indent="0">
              <a:lnSpc>
                <a:spcPct val="100000"/>
              </a:lnSpc>
              <a:buNone/>
            </a:pPr>
            <a:r>
              <a:rPr lang="en-US" altLang="en-US" sz="11200">
                <a:latin typeface="Times New Roman" panose="02020603050405020304" pitchFamily="18" charset="0"/>
                <a:cs typeface="Times New Roman" panose="02020603050405020304" pitchFamily="18" charset="0"/>
              </a:rPr>
              <a:t>                                             -GNN learns genetic relationships</a:t>
            </a:r>
            <a:endParaRPr lang="en-US" altLang="en-US" sz="11200">
              <a:latin typeface="Times New Roman" panose="02020603050405020304" pitchFamily="18" charset="0"/>
              <a:cs typeface="Times New Roman" panose="02020603050405020304" pitchFamily="18" charset="0"/>
            </a:endParaRPr>
          </a:p>
          <a:p>
            <a:pPr marL="0" indent="0">
              <a:lnSpc>
                <a:spcPct val="100000"/>
              </a:lnSpc>
              <a:buNone/>
            </a:pPr>
            <a:r>
              <a:rPr lang="en-US" altLang="en-US" sz="9600" b="1">
                <a:latin typeface="Times New Roman" panose="02020603050405020304" pitchFamily="18" charset="0"/>
                <a:cs typeface="Times New Roman" panose="02020603050405020304" pitchFamily="18" charset="0"/>
              </a:rPr>
              <a:t>Step4:</a:t>
            </a:r>
            <a:r>
              <a:rPr lang="en-US" altLang="en-US" sz="11200">
                <a:latin typeface="Times New Roman" panose="02020603050405020304" pitchFamily="18" charset="0"/>
                <a:cs typeface="Times New Roman" panose="02020603050405020304" pitchFamily="18" charset="0"/>
              </a:rPr>
              <a:t> </a:t>
            </a:r>
            <a:r>
              <a:rPr lang="en-US" altLang="en-US" sz="11200" b="1">
                <a:latin typeface="Times New Roman" panose="02020603050405020304" pitchFamily="18" charset="0"/>
                <a:cs typeface="Times New Roman" panose="02020603050405020304" pitchFamily="18" charset="0"/>
              </a:rPr>
              <a:t>Fusion Layer:</a:t>
            </a:r>
            <a:r>
              <a:rPr lang="en-US" altLang="en-US" sz="11200">
                <a:latin typeface="Times New Roman" panose="02020603050405020304" pitchFamily="18" charset="0"/>
                <a:cs typeface="Times New Roman" panose="02020603050405020304" pitchFamily="18" charset="0"/>
              </a:rPr>
              <a:t> -Transformer combines MRI and DNA features</a:t>
            </a:r>
            <a:endParaRPr lang="en-US" altLang="en-US" sz="11200">
              <a:latin typeface="Times New Roman" panose="02020603050405020304" pitchFamily="18" charset="0"/>
              <a:cs typeface="Times New Roman" panose="02020603050405020304" pitchFamily="18" charset="0"/>
            </a:endParaRPr>
          </a:p>
          <a:p>
            <a:pPr marL="0" indent="0">
              <a:lnSpc>
                <a:spcPct val="100000"/>
              </a:lnSpc>
              <a:buNone/>
            </a:pPr>
            <a:r>
              <a:rPr lang="en-US" altLang="en-US" sz="11200">
                <a:latin typeface="Times New Roman" panose="02020603050405020304" pitchFamily="18" charset="0"/>
                <a:cs typeface="Times New Roman" panose="02020603050405020304" pitchFamily="18" charset="0"/>
              </a:rPr>
              <a:t>                                   -Captures complex multimodal interactions</a:t>
            </a:r>
            <a:endParaRPr lang="en-US" altLang="en-US" sz="11200">
              <a:latin typeface="Times New Roman" panose="02020603050405020304" pitchFamily="18" charset="0"/>
              <a:cs typeface="Times New Roman" panose="02020603050405020304" pitchFamily="18" charset="0"/>
            </a:endParaRPr>
          </a:p>
          <a:p>
            <a:pPr marL="0" indent="0">
              <a:lnSpc>
                <a:spcPct val="100000"/>
              </a:lnSpc>
              <a:buNone/>
            </a:pPr>
            <a:r>
              <a:rPr lang="en-US" altLang="en-US" sz="9600" b="1">
                <a:latin typeface="Times New Roman" panose="02020603050405020304" pitchFamily="18" charset="0"/>
                <a:cs typeface="Times New Roman" panose="02020603050405020304" pitchFamily="18" charset="0"/>
              </a:rPr>
              <a:t>Step5</a:t>
            </a:r>
            <a:r>
              <a:rPr lang="en-US" altLang="en-US" sz="11200" b="1">
                <a:latin typeface="Times New Roman" panose="02020603050405020304" pitchFamily="18" charset="0"/>
                <a:cs typeface="Times New Roman" panose="02020603050405020304" pitchFamily="18" charset="0"/>
              </a:rPr>
              <a:t>: Classification Layer:</a:t>
            </a:r>
            <a:r>
              <a:rPr lang="en-US" altLang="en-US" sz="11200">
                <a:latin typeface="Times New Roman" panose="02020603050405020304" pitchFamily="18" charset="0"/>
                <a:cs typeface="Times New Roman" panose="02020603050405020304" pitchFamily="18" charset="0"/>
              </a:rPr>
              <a:t> Deep Neural Network classifies Normal or Disease</a:t>
            </a:r>
            <a:endParaRPr lang="en-US" altLang="en-US" sz="11200">
              <a:latin typeface="Times New Roman" panose="02020603050405020304" pitchFamily="18" charset="0"/>
              <a:cs typeface="Times New Roman" panose="02020603050405020304" pitchFamily="18" charset="0"/>
            </a:endParaRPr>
          </a:p>
          <a:p>
            <a:pPr marL="0" indent="0">
              <a:lnSpc>
                <a:spcPct val="100000"/>
              </a:lnSpc>
              <a:buNone/>
            </a:pPr>
            <a:r>
              <a:rPr lang="en-US" altLang="en-US" sz="9600" b="1">
                <a:latin typeface="Times New Roman" panose="02020603050405020304" pitchFamily="18" charset="0"/>
                <a:cs typeface="Times New Roman" panose="02020603050405020304" pitchFamily="18" charset="0"/>
              </a:rPr>
              <a:t>Step6:</a:t>
            </a:r>
            <a:r>
              <a:rPr lang="en-US" altLang="en-US" sz="11200" b="1">
                <a:latin typeface="Times New Roman" panose="02020603050405020304" pitchFamily="18" charset="0"/>
                <a:cs typeface="Times New Roman" panose="02020603050405020304" pitchFamily="18" charset="0"/>
              </a:rPr>
              <a:t> Explainable AI Layer:</a:t>
            </a:r>
            <a:r>
              <a:rPr lang="en-US" altLang="en-US" sz="11200">
                <a:latin typeface="Times New Roman" panose="02020603050405020304" pitchFamily="18" charset="0"/>
                <a:cs typeface="Times New Roman" panose="02020603050405020304" pitchFamily="18" charset="0"/>
              </a:rPr>
              <a:t> SHAP identifies important genetic features</a:t>
            </a:r>
            <a:endParaRPr lang="en-US" altLang="en-US" sz="11200">
              <a:latin typeface="Times New Roman" panose="02020603050405020304" pitchFamily="18" charset="0"/>
              <a:cs typeface="Times New Roman" panose="02020603050405020304" pitchFamily="18" charset="0"/>
            </a:endParaRPr>
          </a:p>
          <a:p>
            <a:pPr marL="0" indent="0">
              <a:lnSpc>
                <a:spcPct val="100000"/>
              </a:lnSpc>
              <a:buNone/>
            </a:pPr>
            <a:r>
              <a:rPr lang="en-US" altLang="en-US" sz="9600" b="1">
                <a:latin typeface="Times New Roman" panose="02020603050405020304" pitchFamily="18" charset="0"/>
                <a:cs typeface="Times New Roman" panose="02020603050405020304" pitchFamily="18" charset="0"/>
              </a:rPr>
              <a:t>Step7:</a:t>
            </a:r>
            <a:r>
              <a:rPr lang="en-US" altLang="en-US" sz="11200" b="1">
                <a:latin typeface="Times New Roman" panose="02020603050405020304" pitchFamily="18" charset="0"/>
                <a:cs typeface="Times New Roman" panose="02020603050405020304" pitchFamily="18" charset="0"/>
              </a:rPr>
              <a:t> Final Output:</a:t>
            </a:r>
            <a:r>
              <a:rPr lang="en-US" altLang="en-US" sz="11200">
                <a:latin typeface="Times New Roman" panose="02020603050405020304" pitchFamily="18" charset="0"/>
                <a:cs typeface="Times New Roman" panose="02020603050405020304" pitchFamily="18" charset="0"/>
              </a:rPr>
              <a:t> Produces accurate and explainable Huntington’s disease prediction</a:t>
            </a:r>
            <a:endParaRPr lang="en-US" altLang="en-US" sz="11200">
              <a:latin typeface="Times New Roman" panose="02020603050405020304" pitchFamily="18" charset="0"/>
              <a:cs typeface="Times New Roman" panose="02020603050405020304" pitchFamily="18" charset="0"/>
            </a:endParaRPr>
          </a:p>
          <a:p>
            <a:pPr marL="0" indent="0">
              <a:buNone/>
            </a:pPr>
            <a:r>
              <a:rPr lang="en-US" altLang="en-US" sz="3200">
                <a:latin typeface="Times New Roman" panose="02020603050405020304" pitchFamily="18" charset="0"/>
                <a:cs typeface="Times New Roman" panose="02020603050405020304" pitchFamily="18" charset="0"/>
              </a:rPr>
              <a:t>                              </a:t>
            </a:r>
            <a:r>
              <a:rPr lang="en-US" altLang="en-US"/>
              <a:t>  </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50520" y="572135"/>
            <a:ext cx="11587480" cy="5767705"/>
          </a:xfrm>
        </p:spPr>
        <p:txBody>
          <a:bodyPr>
            <a:normAutofit/>
          </a:bodyPr>
          <a:p>
            <a:r>
              <a:rPr lang="en-US" altLang="en-US" b="1">
                <a:latin typeface="Times New Roman" panose="02020603050405020304" pitchFamily="18" charset="0"/>
                <a:cs typeface="Times New Roman" panose="02020603050405020304" pitchFamily="18" charset="0"/>
              </a:rPr>
              <a:t>Data Collection:</a:t>
            </a:r>
            <a:r>
              <a:rPr lang="en-US" altLang="en-US">
                <a:latin typeface="Times New Roman" panose="02020603050405020304" pitchFamily="18" charset="0"/>
                <a:cs typeface="Times New Roman" panose="02020603050405020304" pitchFamily="18" charset="0"/>
              </a:rPr>
              <a:t> -Gather MRI brain images and HTT gene DNA data</a:t>
            </a:r>
            <a:endParaRPr lang="en-US" altLang="en-US">
              <a:latin typeface="Times New Roman" panose="02020603050405020304" pitchFamily="18" charset="0"/>
              <a:cs typeface="Times New Roman" panose="02020603050405020304" pitchFamily="18" charset="0"/>
            </a:endParaRPr>
          </a:p>
          <a:p>
            <a:pPr marL="0" indent="0">
              <a:buNone/>
            </a:pPr>
            <a:r>
              <a:rPr lang="en-US" altLang="en-US">
                <a:latin typeface="Times New Roman" panose="02020603050405020304" pitchFamily="18" charset="0"/>
                <a:cs typeface="Times New Roman" panose="02020603050405020304" pitchFamily="18" charset="0"/>
              </a:rPr>
              <a:t>                                -Include both Huntington’s patients and healthy individuals</a:t>
            </a:r>
            <a:endParaRPr lang="en-US" altLang="en-US">
              <a:latin typeface="Times New Roman" panose="02020603050405020304" pitchFamily="18" charset="0"/>
              <a:cs typeface="Times New Roman" panose="02020603050405020304" pitchFamily="18" charset="0"/>
            </a:endParaRPr>
          </a:p>
          <a:p>
            <a:pPr marL="0" indent="0">
              <a:buNone/>
            </a:pPr>
            <a:endParaRPr lang="en-US" alt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Data Preprocessing:</a:t>
            </a:r>
            <a:r>
              <a:rPr lang="en-US" altLang="en-US">
                <a:latin typeface="Times New Roman" panose="02020603050405020304" pitchFamily="18" charset="0"/>
                <a:cs typeface="Times New Roman" panose="02020603050405020304" pitchFamily="18" charset="0"/>
              </a:rPr>
              <a:t> -Clean and prepare MRI and DNA data</a:t>
            </a:r>
            <a:endParaRPr lang="en-US" altLang="en-US">
              <a:latin typeface="Times New Roman" panose="02020603050405020304" pitchFamily="18" charset="0"/>
              <a:cs typeface="Times New Roman" panose="02020603050405020304" pitchFamily="18" charset="0"/>
            </a:endParaRPr>
          </a:p>
          <a:p>
            <a:pPr marL="0" indent="0">
              <a:buNone/>
            </a:pPr>
            <a:r>
              <a:rPr lang="en-US" altLang="en-US">
                <a:latin typeface="Times New Roman" panose="02020603050405020304" pitchFamily="18" charset="0"/>
                <a:cs typeface="Times New Roman" panose="02020603050405020304" pitchFamily="18" charset="0"/>
              </a:rPr>
              <a:t>                                      -Resize/normalize MRI and encode DNA sequences</a:t>
            </a:r>
            <a:endParaRPr lang="en-US" altLang="en-US">
              <a:latin typeface="Times New Roman" panose="02020603050405020304" pitchFamily="18" charset="0"/>
              <a:cs typeface="Times New Roman" panose="02020603050405020304" pitchFamily="18" charset="0"/>
            </a:endParaRPr>
          </a:p>
          <a:p>
            <a:pPr marL="0" indent="0">
              <a:buNone/>
            </a:pPr>
            <a:endParaRPr lang="en-US" alt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sym typeface="+mn-ea"/>
              </a:rPr>
              <a:t>Feature Extraction:</a:t>
            </a:r>
            <a:r>
              <a:rPr lang="en-US" altLang="en-US">
                <a:latin typeface="Times New Roman" panose="02020603050405020304" pitchFamily="18" charset="0"/>
                <a:cs typeface="Times New Roman" panose="02020603050405020304" pitchFamily="18" charset="0"/>
                <a:sym typeface="+mn-ea"/>
              </a:rPr>
              <a:t> -</a:t>
            </a:r>
            <a:r>
              <a:rPr lang="en-US" altLang="en-US">
                <a:latin typeface="Times New Roman" panose="02020603050405020304" pitchFamily="18" charset="0"/>
                <a:cs typeface="Times New Roman" panose="02020603050405020304" pitchFamily="18" charset="0"/>
              </a:rPr>
              <a:t>Extract important patterns from MRI and DNA</a:t>
            </a:r>
            <a:endParaRPr lang="en-US" altLang="en-US">
              <a:latin typeface="Times New Roman" panose="02020603050405020304" pitchFamily="18" charset="0"/>
              <a:cs typeface="Times New Roman" panose="02020603050405020304" pitchFamily="18" charset="0"/>
            </a:endParaRPr>
          </a:p>
          <a:p>
            <a:pPr marL="0" indent="0">
              <a:buNone/>
            </a:pPr>
            <a:r>
              <a:rPr lang="en-US" altLang="en-US">
                <a:latin typeface="Times New Roman" panose="02020603050405020304" pitchFamily="18" charset="0"/>
                <a:cs typeface="Times New Roman" panose="02020603050405020304" pitchFamily="18" charset="0"/>
              </a:rPr>
              <a:t>                                      -EfficientNet-B3 for MRI and GNN for genetic data</a:t>
            </a:r>
            <a:endParaRPr lang="en-US" altLang="en-US">
              <a:latin typeface="Times New Roman" panose="02020603050405020304" pitchFamily="18" charset="0"/>
              <a:cs typeface="Times New Roman" panose="02020603050405020304" pitchFamily="18" charset="0"/>
            </a:endParaRPr>
          </a:p>
          <a:p>
            <a:pPr marL="0" indent="0">
              <a:buNone/>
            </a:pPr>
            <a:endParaRPr lang="en-US" alt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Model Training:</a:t>
            </a:r>
            <a:r>
              <a:rPr lang="en-US" altLang="en-US">
                <a:latin typeface="Times New Roman" panose="02020603050405020304" pitchFamily="18" charset="0"/>
                <a:cs typeface="Times New Roman" panose="02020603050405020304" pitchFamily="18" charset="0"/>
              </a:rPr>
              <a:t> -Train the multimodal model with processed data</a:t>
            </a:r>
            <a:endParaRPr lang="en-US" altLang="en-US">
              <a:latin typeface="Times New Roman" panose="02020603050405020304" pitchFamily="18" charset="0"/>
              <a:cs typeface="Times New Roman" panose="02020603050405020304" pitchFamily="18" charset="0"/>
            </a:endParaRPr>
          </a:p>
          <a:p>
            <a:pPr marL="0" indent="0">
              <a:buNone/>
            </a:pPr>
            <a:r>
              <a:rPr lang="en-US" altLang="en-US">
                <a:latin typeface="Times New Roman" panose="02020603050405020304" pitchFamily="18" charset="0"/>
                <a:cs typeface="Times New Roman" panose="02020603050405020304" pitchFamily="18" charset="0"/>
              </a:rPr>
              <a:t>                                -Learn patterns and optimize accuracy using validation</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81915"/>
            <a:ext cx="10515600" cy="1661795"/>
          </a:xfrm>
        </p:spPr>
        <p:txBody>
          <a:bodyPr>
            <a:normAutofit/>
          </a:bodyPr>
          <a:p>
            <a:pPr algn="ctr"/>
            <a:r>
              <a:rPr lang="en-US" altLang="en-US" b="1">
                <a:latin typeface="Times New Roman" panose="02020603050405020304" pitchFamily="18" charset="0"/>
                <a:cs typeface="Times New Roman" panose="02020603050405020304" pitchFamily="18" charset="0"/>
              </a:rPr>
              <a:t>SYSTEM REQUIREMENT SPECIFICATIONS</a:t>
            </a:r>
            <a:endParaRPr lang="en-US" alt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2760" y="1265555"/>
            <a:ext cx="10861040" cy="4933315"/>
          </a:xfrm>
        </p:spPr>
        <p:txBody>
          <a:bodyPr>
            <a:noAutofit/>
          </a:bodyPr>
          <a:p>
            <a:pPr marL="0" indent="0">
              <a:buNone/>
            </a:pPr>
            <a:r>
              <a:rPr lang="en-US" altLang="en-US" sz="2400" b="1">
                <a:latin typeface="Times New Roman" panose="02020603050405020304" pitchFamily="18" charset="0"/>
                <a:cs typeface="Times New Roman" panose="02020603050405020304" pitchFamily="18" charset="0"/>
              </a:rPr>
              <a:t>HARDWARE REQUIREMENTS:</a:t>
            </a:r>
            <a:endParaRPr lang="en-US" altLang="en-US" sz="2400" b="1">
              <a:latin typeface="Times New Roman" panose="02020603050405020304" pitchFamily="18" charset="0"/>
              <a:cs typeface="Times New Roman" panose="02020603050405020304" pitchFamily="18" charset="0"/>
            </a:endParaRPr>
          </a:p>
          <a:p>
            <a:r>
              <a:rPr lang="en-US" altLang="en-US" sz="2400" b="1">
                <a:latin typeface="Times New Roman" panose="02020603050405020304" pitchFamily="18" charset="0"/>
                <a:cs typeface="Times New Roman" panose="02020603050405020304" pitchFamily="18" charset="0"/>
              </a:rPr>
              <a:t>Processor: </a:t>
            </a:r>
            <a:r>
              <a:rPr lang="en-US" altLang="en-US" sz="2400">
                <a:latin typeface="Times New Roman" panose="02020603050405020304" pitchFamily="18" charset="0"/>
                <a:cs typeface="Times New Roman" panose="02020603050405020304" pitchFamily="18" charset="0"/>
              </a:rPr>
              <a:t>Intel i5/i7 or AMD Ryzen 5/7</a:t>
            </a:r>
            <a:endParaRPr lang="en-US" altLang="en-US" sz="2400" b="1">
              <a:latin typeface="Times New Roman" panose="02020603050405020304" pitchFamily="18" charset="0"/>
              <a:cs typeface="Times New Roman" panose="02020603050405020304" pitchFamily="18" charset="0"/>
            </a:endParaRPr>
          </a:p>
          <a:p>
            <a:r>
              <a:rPr lang="en-US" altLang="en-US" sz="2400" b="1">
                <a:latin typeface="Times New Roman" panose="02020603050405020304" pitchFamily="18" charset="0"/>
                <a:cs typeface="Times New Roman" panose="02020603050405020304" pitchFamily="18" charset="0"/>
              </a:rPr>
              <a:t>RAM: </a:t>
            </a:r>
            <a:r>
              <a:rPr lang="en-US" altLang="en-US" sz="2400">
                <a:latin typeface="Times New Roman" panose="02020603050405020304" pitchFamily="18" charset="0"/>
                <a:cs typeface="Times New Roman" panose="02020603050405020304" pitchFamily="18" charset="0"/>
              </a:rPr>
              <a:t>16 GB (min)</a:t>
            </a:r>
            <a:endParaRPr lang="en-US" altLang="en-US" sz="2400" b="1">
              <a:latin typeface="Times New Roman" panose="02020603050405020304" pitchFamily="18" charset="0"/>
              <a:cs typeface="Times New Roman" panose="02020603050405020304" pitchFamily="18" charset="0"/>
            </a:endParaRPr>
          </a:p>
          <a:p>
            <a:r>
              <a:rPr lang="en-US" altLang="en-US" sz="2400" b="1">
                <a:latin typeface="Times New Roman" panose="02020603050405020304" pitchFamily="18" charset="0"/>
                <a:cs typeface="Times New Roman" panose="02020603050405020304" pitchFamily="18" charset="0"/>
              </a:rPr>
              <a:t>Storage: </a:t>
            </a:r>
            <a:r>
              <a:rPr lang="en-US" altLang="en-US" sz="2400">
                <a:latin typeface="Times New Roman" panose="02020603050405020304" pitchFamily="18" charset="0"/>
                <a:cs typeface="Times New Roman" panose="02020603050405020304" pitchFamily="18" charset="0"/>
              </a:rPr>
              <a:t>256 GB SSD</a:t>
            </a:r>
            <a:r>
              <a:rPr lang="en-US" altLang="en-US" sz="2400" b="1">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(min) </a:t>
            </a:r>
            <a:endParaRPr lang="en-US" altLang="en-US" sz="2400">
              <a:latin typeface="Times New Roman" panose="02020603050405020304" pitchFamily="18" charset="0"/>
              <a:cs typeface="Times New Roman" panose="02020603050405020304" pitchFamily="18" charset="0"/>
            </a:endParaRPr>
          </a:p>
          <a:p>
            <a:r>
              <a:rPr lang="en-US" altLang="en-US" sz="2400" b="1">
                <a:latin typeface="Times New Roman" panose="02020603050405020304" pitchFamily="18" charset="0"/>
                <a:cs typeface="Times New Roman" panose="02020603050405020304" pitchFamily="18" charset="0"/>
              </a:rPr>
              <a:t>Others: </a:t>
            </a:r>
            <a:r>
              <a:rPr lang="en-US" altLang="en-US" sz="2400">
                <a:latin typeface="Times New Roman" panose="02020603050405020304" pitchFamily="18" charset="0"/>
                <a:cs typeface="Times New Roman" panose="02020603050405020304" pitchFamily="18" charset="0"/>
              </a:rPr>
              <a:t>Stable internet, good cooling system</a:t>
            </a:r>
            <a:endParaRPr lang="en-US" altLang="en-US" sz="2400">
              <a:latin typeface="Times New Roman" panose="02020603050405020304" pitchFamily="18" charset="0"/>
              <a:cs typeface="Times New Roman" panose="02020603050405020304" pitchFamily="18" charset="0"/>
            </a:endParaRPr>
          </a:p>
          <a:p>
            <a:pPr marL="0" indent="0">
              <a:buNone/>
            </a:pPr>
            <a:r>
              <a:rPr lang="en-US" altLang="en-US" sz="2400" b="1">
                <a:latin typeface="Times New Roman" panose="02020603050405020304" pitchFamily="18" charset="0"/>
                <a:cs typeface="Times New Roman" panose="02020603050405020304" pitchFamily="18" charset="0"/>
              </a:rPr>
              <a:t>SOFTWARE REQUIREMENTS:</a:t>
            </a:r>
            <a:endParaRPr lang="en-US" altLang="en-US" sz="2400" b="1">
              <a:latin typeface="Times New Roman" panose="02020603050405020304" pitchFamily="18" charset="0"/>
              <a:cs typeface="Times New Roman" panose="02020603050405020304" pitchFamily="18" charset="0"/>
            </a:endParaRPr>
          </a:p>
          <a:p>
            <a:r>
              <a:rPr lang="en-US" altLang="en-US" sz="2400" b="1">
                <a:latin typeface="Times New Roman" panose="02020603050405020304" pitchFamily="18" charset="0"/>
                <a:cs typeface="Times New Roman" panose="02020603050405020304" pitchFamily="18" charset="0"/>
              </a:rPr>
              <a:t>Operating System: </a:t>
            </a:r>
            <a:r>
              <a:rPr lang="en-US" altLang="en-US" sz="2400">
                <a:latin typeface="Times New Roman" panose="02020603050405020304" pitchFamily="18" charset="0"/>
                <a:cs typeface="Times New Roman" panose="02020603050405020304" pitchFamily="18" charset="0"/>
              </a:rPr>
              <a:t>Windows 10/11 or Linux </a:t>
            </a:r>
            <a:endParaRPr lang="en-US" altLang="en-US" sz="2400">
              <a:latin typeface="Times New Roman" panose="02020603050405020304" pitchFamily="18" charset="0"/>
              <a:cs typeface="Times New Roman" panose="02020603050405020304" pitchFamily="18" charset="0"/>
            </a:endParaRPr>
          </a:p>
          <a:p>
            <a:r>
              <a:rPr lang="en-US" altLang="en-US" sz="2400" b="1">
                <a:latin typeface="Times New Roman" panose="02020603050405020304" pitchFamily="18" charset="0"/>
                <a:cs typeface="Times New Roman" panose="02020603050405020304" pitchFamily="18" charset="0"/>
              </a:rPr>
              <a:t>Programming Language:</a:t>
            </a:r>
            <a:r>
              <a:rPr lang="en-US" altLang="en-US" sz="2400">
                <a:latin typeface="Times New Roman" panose="02020603050405020304" pitchFamily="18" charset="0"/>
                <a:cs typeface="Times New Roman" panose="02020603050405020304" pitchFamily="18" charset="0"/>
              </a:rPr>
              <a:t> Python </a:t>
            </a:r>
            <a:endParaRPr lang="en-US" altLang="en-US" sz="2400">
              <a:latin typeface="Times New Roman" panose="02020603050405020304" pitchFamily="18" charset="0"/>
              <a:cs typeface="Times New Roman" panose="02020603050405020304" pitchFamily="18" charset="0"/>
            </a:endParaRPr>
          </a:p>
          <a:p>
            <a:r>
              <a:rPr lang="en-US" altLang="en-US" sz="2400" b="1">
                <a:latin typeface="Times New Roman" panose="02020603050405020304" pitchFamily="18" charset="0"/>
                <a:cs typeface="Times New Roman" panose="02020603050405020304" pitchFamily="18" charset="0"/>
              </a:rPr>
              <a:t>Deep Learning Frameworks: </a:t>
            </a:r>
            <a:r>
              <a:rPr lang="en-US" altLang="en-US" sz="2400">
                <a:latin typeface="Times New Roman" panose="02020603050405020304" pitchFamily="18" charset="0"/>
                <a:cs typeface="Times New Roman" panose="02020603050405020304" pitchFamily="18" charset="0"/>
              </a:rPr>
              <a:t>TensorFlow </a:t>
            </a:r>
            <a:endParaRPr lang="en-US" altLang="en-US" sz="2400">
              <a:latin typeface="Times New Roman" panose="02020603050405020304" pitchFamily="18" charset="0"/>
              <a:cs typeface="Times New Roman" panose="02020603050405020304" pitchFamily="18" charset="0"/>
            </a:endParaRPr>
          </a:p>
          <a:p>
            <a:r>
              <a:rPr lang="en-US" altLang="en-US" sz="2400" b="1">
                <a:latin typeface="Times New Roman" panose="02020603050405020304" pitchFamily="18" charset="0"/>
                <a:cs typeface="Times New Roman" panose="02020603050405020304" pitchFamily="18" charset="0"/>
              </a:rPr>
              <a:t>Machine Learning Libraries: </a:t>
            </a:r>
            <a:r>
              <a:rPr lang="en-US" altLang="en-US" sz="2400">
                <a:latin typeface="Times New Roman" panose="02020603050405020304" pitchFamily="18" charset="0"/>
                <a:cs typeface="Times New Roman" panose="02020603050405020304" pitchFamily="18" charset="0"/>
              </a:rPr>
              <a:t>scikit-learn, NumPy, Pandas</a:t>
            </a:r>
            <a:endParaRPr lang="en-US" altLang="en-US" sz="2400">
              <a:latin typeface="Times New Roman" panose="02020603050405020304" pitchFamily="18" charset="0"/>
              <a:cs typeface="Times New Roman" panose="02020603050405020304" pitchFamily="18" charset="0"/>
            </a:endParaRPr>
          </a:p>
          <a:p>
            <a:r>
              <a:rPr lang="en-US" altLang="en-US" sz="2400" b="1">
                <a:latin typeface="Times New Roman" panose="02020603050405020304" pitchFamily="18" charset="0"/>
                <a:cs typeface="Times New Roman" panose="02020603050405020304" pitchFamily="18" charset="0"/>
              </a:rPr>
              <a:t>Image Processing Libraries:</a:t>
            </a:r>
            <a:r>
              <a:rPr lang="en-US" altLang="en-US" sz="2400">
                <a:latin typeface="Times New Roman" panose="02020603050405020304" pitchFamily="18" charset="0"/>
                <a:cs typeface="Times New Roman" panose="02020603050405020304" pitchFamily="18" charset="0"/>
              </a:rPr>
              <a:t> OpenCV </a:t>
            </a:r>
            <a:endParaRPr lang="en-US" altLang="en-US" sz="2400">
              <a:latin typeface="Times New Roman" panose="02020603050405020304" pitchFamily="18" charset="0"/>
              <a:cs typeface="Times New Roman" panose="02020603050405020304" pitchFamily="18" charset="0"/>
            </a:endParaRPr>
          </a:p>
          <a:p>
            <a:r>
              <a:rPr lang="en-US" altLang="en-US" sz="2400" b="1">
                <a:latin typeface="Times New Roman" panose="02020603050405020304" pitchFamily="18" charset="0"/>
                <a:cs typeface="Times New Roman" panose="02020603050405020304" pitchFamily="18" charset="0"/>
              </a:rPr>
              <a:t>IDE/Code Editor: </a:t>
            </a:r>
            <a:r>
              <a:rPr lang="en-US" altLang="en-US" sz="2400">
                <a:latin typeface="Times New Roman" panose="02020603050405020304" pitchFamily="18" charset="0"/>
                <a:cs typeface="Times New Roman" panose="02020603050405020304" pitchFamily="18" charset="0"/>
              </a:rPr>
              <a:t> VS Code / Jupyter Notebook / PyCharm</a:t>
            </a: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pPr algn="ctr"/>
            <a:r>
              <a:rPr lang="en-US" altLang="en-US" b="1">
                <a:latin typeface="Times New Roman" panose="02020603050405020304" pitchFamily="18" charset="0"/>
                <a:cs typeface="Times New Roman" panose="02020603050405020304" pitchFamily="18" charset="0"/>
              </a:rPr>
              <a:t>RESULT </a:t>
            </a:r>
            <a:endParaRPr lang="en-US" alt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74345" y="1462405"/>
            <a:ext cx="11233785" cy="4867910"/>
          </a:xfrm>
        </p:spPr>
        <p:txBody>
          <a:bodyPr>
            <a:noAutofit/>
          </a:bodyPr>
          <a:p>
            <a:pPr marL="0" indent="0" algn="just">
              <a:lnSpc>
                <a:spcPct val="100000"/>
              </a:lnSpc>
              <a:buNone/>
            </a:pPr>
            <a:r>
              <a:rPr lang="en-US" altLang="en-US">
                <a:latin typeface="Times New Roman" panose="02020603050405020304" pitchFamily="18" charset="0"/>
                <a:cs typeface="Times New Roman" panose="02020603050405020304" pitchFamily="18" charset="0"/>
              </a:rPr>
              <a:t>The proposed explainable multimodal deep learning model was evaluated using brain MRI images and HTT gene DNA sequences from 4,200 samples. The results show that integrating EfficientNet-B3, Graph Neural Network, and cross-attention fusion significantly improves prediction performance compared to single-modality and traditional machine learning models. The system achieved high accuracy, precision, recall, and AUC-ROC values, demonstrating strong generalization with minimal overfitting. Additionally, SHAP and Grad-CAM explanations enhanced interpretability, making the model reliable and suitable for clinical decision support and early Huntington’s disease detection.</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76200"/>
            <a:ext cx="10515600" cy="871220"/>
          </a:xfrm>
        </p:spPr>
        <p:txBody>
          <a:bodyPr/>
          <a:p>
            <a:pPr algn="ctr"/>
            <a:r>
              <a:rPr lang="en-US" b="1">
                <a:latin typeface="Times New Roman" panose="02020603050405020304" pitchFamily="18" charset="0"/>
                <a:cs typeface="Times New Roman" panose="02020603050405020304" pitchFamily="18" charset="0"/>
              </a:rPr>
              <a:t>OUTPUT</a:t>
            </a:r>
            <a:endParaRPr lang="en-US" b="1">
              <a:latin typeface="Times New Roman" panose="02020603050405020304" pitchFamily="18" charset="0"/>
              <a:cs typeface="Times New Roman" panose="02020603050405020304" pitchFamily="18" charset="0"/>
            </a:endParaRPr>
          </a:p>
        </p:txBody>
      </p:sp>
      <p:pic>
        <p:nvPicPr>
          <p:cNvPr id="7" name="Picture 6" descr="1"/>
          <p:cNvPicPr>
            <a:picLocks noChangeAspect="1"/>
          </p:cNvPicPr>
          <p:nvPr/>
        </p:nvPicPr>
        <p:blipFill>
          <a:blip r:embed="rId1"/>
          <a:stretch>
            <a:fillRect/>
          </a:stretch>
        </p:blipFill>
        <p:spPr>
          <a:xfrm>
            <a:off x="645795" y="946785"/>
            <a:ext cx="10942955" cy="56902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4"/>
          <p:cNvPicPr>
            <a:picLocks noChangeAspect="1"/>
          </p:cNvPicPr>
          <p:nvPr>
            <p:ph idx="1"/>
          </p:nvPr>
        </p:nvPicPr>
        <p:blipFill>
          <a:blip r:embed="rId1"/>
          <a:stretch>
            <a:fillRect/>
          </a:stretch>
        </p:blipFill>
        <p:spPr>
          <a:xfrm>
            <a:off x="739140" y="421640"/>
            <a:ext cx="10885805" cy="601408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p:nvPr>
            <p:ph type="title"/>
          </p:nvPr>
        </p:nvSpPr>
        <p:spPr/>
        <p:txBody>
          <a:bodyPr/>
          <a:p>
            <a:pPr algn="ctr"/>
            <a:r>
              <a:rPr lang="en-US" b="1">
                <a:latin typeface="Times New Roman" panose="02020603050405020304" pitchFamily="18" charset="0"/>
                <a:cs typeface="Times New Roman" panose="02020603050405020304" pitchFamily="18" charset="0"/>
              </a:rPr>
              <a:t>TRAINING ACCURACY AND LOSS</a:t>
            </a:r>
            <a:r>
              <a:rPr lang="en-US"/>
              <a:t> </a:t>
            </a:r>
            <a:endParaRPr lang="en-US"/>
          </a:p>
        </p:txBody>
      </p:sp>
      <p:pic>
        <p:nvPicPr>
          <p:cNvPr id="1365911964" name="Picture 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328295" y="1920240"/>
            <a:ext cx="5641975" cy="4231640"/>
          </a:xfrm>
          <a:prstGeom prst="rect">
            <a:avLst/>
          </a:prstGeom>
          <a:noFill/>
          <a:ln>
            <a:noFill/>
          </a:ln>
        </p:spPr>
      </p:pic>
      <p:pic>
        <p:nvPicPr>
          <p:cNvPr id="99943151"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103620" y="1691005"/>
            <a:ext cx="6078855" cy="456057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20445"/>
          </a:xfrm>
        </p:spPr>
        <p:txBody>
          <a:bodyPr/>
          <a:p>
            <a:pPr algn="ctr"/>
            <a:r>
              <a:rPr lang="en-US" altLang="en-US" b="1">
                <a:latin typeface="Times New Roman" panose="02020603050405020304" pitchFamily="18" charset="0"/>
                <a:cs typeface="Times New Roman" panose="02020603050405020304" pitchFamily="18" charset="0"/>
              </a:rPr>
              <a:t>CONCLUSION</a:t>
            </a:r>
            <a:endParaRPr lang="en-US" alt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56590" y="1586865"/>
            <a:ext cx="10697210" cy="4590415"/>
          </a:xfrm>
        </p:spPr>
        <p:txBody>
          <a:bodyPr/>
          <a:p>
            <a:pPr marL="0" indent="0" algn="just">
              <a:buNone/>
            </a:pPr>
            <a:r>
              <a:rPr lang="en-US" altLang="en-US">
                <a:latin typeface="Times New Roman" panose="02020603050405020304" pitchFamily="18" charset="0"/>
                <a:cs typeface="Times New Roman" panose="02020603050405020304" pitchFamily="18" charset="0"/>
              </a:rPr>
              <a:t>This work presents an explainable multimodal deep learning framework for early prediction of Huntington’s disease by integrating genetic and brain MRI data. EfficientNet-B3 effectively captures structural brain abnormalities, while Graph Neural Networks model complex genetic relationships. The transformer-based cross-attention fusion improves feature interaction and prediction accuracy. Explainable AI techniques such as SHAP and Grad-CAM enhance transparency and clinical trust. Overall, the proposed system demonstrates high accuracy, reliability, and interpretability, supporting early diagnosis and advancing AI-assisted precision healthcare.</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sz="4800" b="1">
                <a:latin typeface="Times New Roman" panose="02020603050405020304" pitchFamily="18" charset="0"/>
                <a:cs typeface="Times New Roman" panose="02020603050405020304" pitchFamily="18" charset="0"/>
              </a:rPr>
              <a:t>FUTURE SCOPE</a:t>
            </a:r>
            <a:endParaRPr lang="en-US" altLang="en-US" sz="48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p>
            <a:pPr algn="just"/>
            <a:r>
              <a:rPr lang="en-US" altLang="en-US">
                <a:latin typeface="Times New Roman" panose="02020603050405020304" pitchFamily="18" charset="0"/>
                <a:cs typeface="Times New Roman" panose="02020603050405020304" pitchFamily="18" charset="0"/>
              </a:rPr>
              <a:t>Incorporate additional biomarkers such as EEG signals, clinical scores, and wearable sensor data to improve early-stage prediction and monitoring.</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Develop a real-time clinical decision support tool with user-friendly dashboards for doctors and healthcare professionals.</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Optimize the model for mobile and edge devices to enable low-cost, remote screening and continuous patient monitoring in real-world healthcare settings.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5890"/>
            <a:ext cx="10515600" cy="1315720"/>
          </a:xfrm>
        </p:spPr>
        <p:txBody>
          <a:bodyPr/>
          <a:p>
            <a:pPr algn="ctr"/>
            <a:r>
              <a:rPr lang="en-US" altLang="en-US" b="1">
                <a:latin typeface="Times New Roman" panose="02020603050405020304" pitchFamily="18" charset="0"/>
                <a:cs typeface="Times New Roman" panose="02020603050405020304" pitchFamily="18" charset="0"/>
              </a:rPr>
              <a:t>REFERENCE </a:t>
            </a:r>
            <a:endParaRPr lang="en-US" alt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82880" y="1035050"/>
            <a:ext cx="11170920" cy="5238115"/>
          </a:xfrm>
        </p:spPr>
        <p:txBody>
          <a:bodyPr>
            <a:noAutofit/>
          </a:bodyPr>
          <a:p>
            <a:pPr marL="0" indent="0">
              <a:buNone/>
            </a:pPr>
            <a:r>
              <a:rPr lang="en-US" altLang="en-US" sz="1800">
                <a:latin typeface="Times New Roman" panose="02020603050405020304" pitchFamily="18" charset="0"/>
                <a:cs typeface="Times New Roman" panose="02020603050405020304" pitchFamily="18" charset="0"/>
              </a:rPr>
              <a:t>[1] AbdelAziz, Nabil M., Gehan A. Fouad, Safa Al-Saeed, and Amira M. Fawzy. "Deep Q-Network (DQN) Model for Disease Prediction Using Electronic Health Records (EHRs)."</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Sci</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7, no. 1 (2025): 14.</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[2] Amudaria, S., and S. Joseph Jawhar. "MIMI-ONET: Multi-Modal image augmentation via Butterfly Optimized neural network for Huntington Disease Detection."</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Brain Research</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1855 (2025): 149530.</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[3] Banu, Mohammed Razia Alangir, K. Purushottama Rao, and Arpita Gupta. "Accurate Human Brain Tissue Segmentation in MRI Scans Using Optimized Deep Neural Network."</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SN Computer Science</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6, no. 6 (2025): 614.</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[4] Deepak, Shashikant, Ananta Ojha, Kalyan Acharjya, Reshmi Mishra, Amit Gantra, C. Kalaiarasan, Ramakant Upadhyay, and Suchita Walke. "A novel and proposed triad machine learning-based framework for the prognosis of Huntington’s disease."</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International Journal of Information Technology</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16, no. 4 (2024): 2603-2610.</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[5] Gao, Shichen, Yadong Wang, Jiajia Wang, and Yan Dong. "Leveraging explainable deep learning methodologies to elucidate the biological underpinnings of Huntington’s disease using single-cell RNA sequencing data."</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BMC genomics</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25, no. 1 (2024): 930.</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[6] Gibson, Jessie S., Jeremy W. Eberle, Alexandra Werntz, Madaline B. Harrison, Carol A. Manning, Guofen Yan, and Bethany A. Teachman. "Development of the Movement Disorders Interpretation Bias Scale and Psychometric Evaluation in Adults with Huntington’s Disease."</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Parkinsonism &amp; Related Disorders</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(2025): 107971.</a:t>
            </a:r>
            <a:endParaRPr lang="en-US" altLang="en-US" sz="1800">
              <a:latin typeface="Times New Roman" panose="02020603050405020304" pitchFamily="18" charset="0"/>
              <a:cs typeface="Times New Roman" panose="02020603050405020304" pitchFamily="18" charset="0"/>
            </a:endParaRPr>
          </a:p>
          <a:p>
            <a:pPr marL="0" indent="0">
              <a:buNone/>
            </a:pPr>
            <a:r>
              <a:rPr lang="en-US" altLang="en-US" sz="1800">
                <a:latin typeface="Times New Roman" panose="02020603050405020304" pitchFamily="18" charset="0"/>
                <a:cs typeface="Times New Roman" panose="02020603050405020304" pitchFamily="18" charset="0"/>
              </a:rPr>
              <a:t>[7] Haase, Robert, Nils Christian Lehnen, Frederic Carsten Schmeel, Katerina Deike, Theodor Rüber, Alexander Radbruch, and Daniel Paech. "External evaluation of a deep learning-based approach for automated brain volumetry in patients with huntington’s disease."</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Scientific Reports</a:t>
            </a:r>
            <a:r>
              <a:rPr lang="en-US" alt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14, no. 1 (2024): 9243.</a:t>
            </a:r>
            <a:endParaRPr lang="en-US" altLang="en-US" sz="1800">
              <a:latin typeface="Times New Roman" panose="02020603050405020304" pitchFamily="18" charset="0"/>
              <a:cs typeface="Times New Roman" panose="02020603050405020304" pitchFamily="18" charset="0"/>
            </a:endParaRPr>
          </a:p>
          <a:p>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6880" y="3013501"/>
            <a:ext cx="6098240" cy="830997"/>
          </a:xfrm>
          <a:prstGeom prst="rect">
            <a:avLst/>
          </a:prstGeom>
          <a:noFill/>
        </p:spPr>
        <p:txBody>
          <a:bodyPr wrap="square">
            <a:spAutoFit/>
          </a:bodyPr>
          <a:lstStyle/>
          <a:p>
            <a:pPr algn="ctr"/>
            <a:r>
              <a:rPr lang="en-US" sz="4800" b="1" dirty="0">
                <a:latin typeface="Times New Roman" panose="02020603050405020304" pitchFamily="18" charset="0"/>
                <a:cs typeface="Times New Roman" panose="02020603050405020304" pitchFamily="18" charset="0"/>
              </a:rPr>
              <a:t>THANK YOU!</a:t>
            </a:r>
            <a:endParaRPr lang="en-US" sz="4800" b="1" dirty="0"/>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TABLE_ENDDRAG_ORIGIN_RECT" val="914*390"/>
  <p:tag name="TABLE_ENDDRAG_RECT" val="19*114*914*390"/>
  <p:tag name="TABLE_AUTOADJUST_FLAG" val="1"/>
</p:tagLst>
</file>

<file path=ppt/tags/tag6.xml><?xml version="1.0" encoding="utf-8"?>
<p:tagLst xmlns:p="http://schemas.openxmlformats.org/presentationml/2006/main">
  <p:tag name="TABLE_ENDDRAG_ORIGIN_RECT" val="908*481"/>
  <p:tag name="TABLE_ENDDRAG_RECT" val="24*36*908*48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12337</Words>
  <Application>WPS Presentation</Application>
  <PresentationFormat>Widescreen</PresentationFormat>
  <Paragraphs>214</Paragraphs>
  <Slides>24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24</vt:i4>
      </vt:variant>
    </vt:vector>
  </HeadingPairs>
  <TitlesOfParts>
    <vt:vector size="33" baseType="lpstr">
      <vt:lpstr>Arial</vt:lpstr>
      <vt:lpstr>SimSun</vt:lpstr>
      <vt:lpstr>Wingdings</vt:lpstr>
      <vt:lpstr>Times New Roman</vt:lpstr>
      <vt:lpstr>Microsoft YaHei</vt:lpstr>
      <vt:lpstr>Calibri</vt:lpstr>
      <vt:lpstr>Arial Unicode MS</vt:lpstr>
      <vt:lpstr>Calibri Light</vt:lpstr>
      <vt:lpstr>Office Theme</vt:lpstr>
      <vt:lpstr>PowerPoint 演示文稿</vt:lpstr>
      <vt:lpstr>ABSTRACT</vt:lpstr>
      <vt:lpstr>INTRODUCTION</vt:lpstr>
      <vt:lpstr> </vt:lpstr>
      <vt:lpstr>PROBLEM STATEMENT</vt:lpstr>
      <vt:lpstr>OBJECTIVE </vt:lpstr>
      <vt:lpstr>LITERATURE SURVEY</vt:lpstr>
      <vt:lpstr>PowerPoint 演示文稿</vt:lpstr>
      <vt:lpstr>EXISTING SYSTEM</vt:lpstr>
      <vt:lpstr>DRAWBACKS OF EXISTING SYSTEM</vt:lpstr>
      <vt:lpstr>PROPOSED SYSTEM</vt:lpstr>
      <vt:lpstr>ADVANTAGES OF PROPOSED SYSTEM</vt:lpstr>
      <vt:lpstr>SYSTEM DESIGN </vt:lpstr>
      <vt:lpstr>PowerPoint 演示文稿</vt:lpstr>
      <vt:lpstr>PowerPoint 演示文稿</vt:lpstr>
      <vt:lpstr>SYSTEM REQUIREMENT SPECIFICATIONS</vt:lpstr>
      <vt:lpstr>RESULT AND DISCUSSION</vt:lpstr>
      <vt:lpstr>OUTPUT</vt:lpstr>
      <vt:lpstr>PowerPoint 演示文稿</vt:lpstr>
      <vt:lpstr>TRAINING ACCURACY AND LOSS </vt:lpstr>
      <vt:lpstr>CONCLUSION</vt:lpstr>
      <vt:lpstr>FUTURE SCOPE</vt:lpstr>
      <vt:lpstr>REFERENCE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IFET College of Engineering (Autonomous Institution)</dc:title>
  <dc:creator>USER</dc:creator>
  <cp:lastModifiedBy>Badmapriya S</cp:lastModifiedBy>
  <cp:revision>95</cp:revision>
  <dcterms:created xsi:type="dcterms:W3CDTF">2024-08-10T08:10:00Z</dcterms:created>
  <dcterms:modified xsi:type="dcterms:W3CDTF">2026-06-15T07:59:07Z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A3E8736145DF4412B465B88B29471EDA_13</vt:lpwstr>
  </property>
  <property fmtid="{D5CDD505-2E9C-101B-9397-08002B2CF9AE}" pid="3" name="KSOProductBuildVer">
    <vt:lpwstr>1033-12.1.0.26880</vt:lpwstr>
  </property>
</Properties>
</file>